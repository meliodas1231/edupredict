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5" r:id="rId7"/>
    <p:sldId id="266" r:id="rId8"/>
    <p:sldId id="274" r:id="rId9"/>
    <p:sldId id="265" r:id="rId10"/>
    <p:sldId id="259" r:id="rId11"/>
    <p:sldId id="260" r:id="rId12"/>
    <p:sldId id="263" r:id="rId13"/>
    <p:sldId id="272" r:id="rId14"/>
    <p:sldId id="264" r:id="rId15"/>
    <p:sldId id="262" r:id="rId16"/>
    <p:sldId id="267" r:id="rId17"/>
    <p:sldId id="268" r:id="rId18"/>
    <p:sldId id="269" r:id="rId19"/>
    <p:sldId id="271" r:id="rId20"/>
    <p:sldId id="270" r:id="rId21"/>
    <p:sldId id="273" r:id="rId2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1F4E75"/>
    <a:srgbClr val="0A1F44"/>
    <a:srgbClr val="07575B"/>
    <a:srgbClr val="0F172A"/>
    <a:srgbClr val="1F4E79"/>
    <a:srgbClr val="FFFFFF"/>
    <a:srgbClr val="1F4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799FD-B687-FBE8-8DC7-616BD88D53D2}" v="6" dt="2026-05-07T19:38:11.486"/>
    <p1510:client id="{31F920FE-1AC9-4C0D-C4E9-2814BEED7976}" v="443" dt="2026-05-06T20:06:48.047"/>
    <p1510:client id="{4B513FF7-371C-6F85-A135-31B693DC12A9}" v="8" dt="2026-05-07T23:14:35.875"/>
    <p1510:client id="{622A1AAE-D3D7-77E9-40AE-544A3F272311}" v="462" dt="2026-05-06T22:16:49.949"/>
    <p1510:client id="{CEA44004-9B0E-2611-7992-D1FB8FFF37C8}" v="14" dt="2026-05-08T15:10:56.299"/>
    <p1510:client id="{E255565F-27CA-4145-AAD9-0885181EE65C}" v="18" dt="2026-05-06T21:42:47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845B3-D386-EC0C-689C-6429E6171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CD1B87-FDD6-6B83-7FCB-C28DE98B6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C2DF85-96E9-F154-3C81-C7853179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B82605-B4D5-9F43-5B14-0E570F2D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22721A-E53B-6814-3F66-3C3A3B14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665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D8DEC-D553-9B11-2FF1-79279BE1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F36DEC-0CEF-E258-32A5-3A33CC1DB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9126FD-F3D7-7B4F-7269-61CCDF19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962350-9CB3-8965-38FC-B5EEC55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15042-AABC-8C78-7850-5FC39A4B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90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BAF74-AA30-5D93-62DB-2DD55870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179C49-D6D7-E1C7-E9EF-CD3941D55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01360-4C6B-5944-3BF0-9C9C8F34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1D2E26-BFC9-A483-9753-6C74AA7C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905A4-8BD7-808D-C82D-1D5EC9CC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40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3DF2F-B607-9994-EAAB-A14813C1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BAD009-D692-5D00-27B6-EB62F6088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22BCDE-E588-79FA-C177-48DDF6316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14E28D-6066-9BA4-8347-700A1143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123BDB-0952-8410-3825-6AC31329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FA01DC-D16F-7B1C-2AE0-A4F45BED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253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67F3A-CA3C-1A55-E2E7-74A5FD30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88A269-A1B7-B645-D5C1-40C9F2BF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7B90C2-FB00-BB68-47CF-A2557733A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CB2D53-82DA-9DE9-681A-8DCE30E2F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E67805-2538-8C0E-605F-679A75E9E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B9A2CB-2C6F-B923-E2CB-FFC1B3C3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A8D2BF-ABCE-C7B3-DDB8-C8885394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4A5F65-F885-589C-CB86-D0269EE7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910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564CE-4504-04D3-D022-856288DA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32E305-FF4E-1AF6-74E1-FE650E49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D547E9-E74F-595F-709D-7B7F087A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972F51-06D7-D3F0-F34E-26A42DA0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74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AA53E5-2E94-DDA4-68E8-A2DC75F9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C55C36-7CC6-25FD-52E5-55157C50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D9D3D2-79FC-D2E6-EC23-ED2F7AF7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71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E5B5A-9BFB-0D69-CDD7-537AB38ED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2EC3A9-D65D-265C-4B15-DEAF51174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A03ABF-6F12-0859-091C-57EF10AAD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302D8-1ADF-FCCD-0397-5013D0B1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869A77-AA33-86BD-84D8-201A8E5A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70ACF2-8878-C863-7C24-86A21D70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08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8817E-684C-5E45-3D38-40BA31E9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CD721E-DE0C-47DA-E362-78395DD65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97667B-DEAE-7625-F10E-7952389D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F9FF58-BE59-2F90-D5B3-CC7A3B78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4D4C7B-D855-2625-8D99-20618869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08ADDC-4D0D-C14C-4529-1B4B1445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496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E1AAC-2CF7-933D-D30C-67AEAD07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56E947-4731-9B86-E68D-5F5196B8C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74BDEE-9567-BFF7-781A-E58B6C9C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2E0F1C-E48D-C498-2066-4F5813293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C3DFD5-B316-A69C-4031-8D9129BD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80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7FD74E-D4CF-25B8-4C01-2E7E998DC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F905D9-F84C-05F0-0DF1-A93B1979E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188543-2DB0-DC2C-08BE-7514B792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563477-D41E-FE8F-AAF7-9D77B1FD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F8160E-5B7C-8F0C-716E-496D307A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676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AE23AC-D16D-55BF-1A19-A2DBCE14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D48686-AC59-F2F2-59FA-EE4646F7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72C890-2843-EB95-4761-150B3CC3A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53199-0D89-4891-9B47-909FA57B1087}" type="datetimeFigureOut">
              <a:rPr lang="es-CL" smtClean="0"/>
              <a:t>08-05-2026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8E32DB-FAB3-2FA0-898A-775D9A2A1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4DEC88-7EC1-D3A1-D6B7-967FA4606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D1CA2-0AE2-4C38-9A7F-04396FA8A9C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151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2394964323115715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doi.org/10.1787/9ea76a8f-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EDAA257E-F665-730E-7095-6689897F0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F57BF1-D1C2-D4E0-0D9F-A003EB2B2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803" y="771069"/>
            <a:ext cx="4996722" cy="1037418"/>
          </a:xfrm>
        </p:spPr>
        <p:txBody>
          <a:bodyPr>
            <a:noAutofit/>
          </a:bodyPr>
          <a:lstStyle/>
          <a:p>
            <a:r>
              <a:rPr lang="es-CL" sz="8800" i="1" noProof="0" dirty="0" err="1">
                <a:solidFill>
                  <a:schemeClr val="bg1"/>
                </a:solidFill>
              </a:rPr>
              <a:t>OnClick</a:t>
            </a:r>
            <a:endParaRPr lang="es-CL" sz="8800" noProof="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F0191F-3B72-0A66-B970-3360F79D0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939" y="-11885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EE6F4B3-2531-5B17-E0A7-D96983001D44}"/>
              </a:ext>
            </a:extLst>
          </p:cNvPr>
          <p:cNvSpPr txBox="1"/>
          <p:nvPr/>
        </p:nvSpPr>
        <p:spPr>
          <a:xfrm>
            <a:off x="597383" y="2336814"/>
            <a:ext cx="860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De datos a decisiones: predecir la conversión de usuarios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AADE68-B657-A2C2-3420-F991CAD9F9D5}"/>
              </a:ext>
            </a:extLst>
          </p:cNvPr>
          <p:cNvSpPr txBox="1"/>
          <p:nvPr/>
        </p:nvSpPr>
        <p:spPr>
          <a:xfrm>
            <a:off x="1299506" y="4438790"/>
            <a:ext cx="935540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</a:rPr>
              <a:t>Integrantes :</a:t>
            </a:r>
            <a:r>
              <a:rPr lang="es-CL" sz="2400" b="1" dirty="0">
                <a:solidFill>
                  <a:schemeClr val="bg1"/>
                </a:solidFill>
              </a:rPr>
              <a:t> </a:t>
            </a:r>
            <a:r>
              <a:rPr lang="es-CL" sz="2400" noProof="0">
                <a:solidFill>
                  <a:schemeClr val="bg1"/>
                </a:solidFill>
              </a:rPr>
              <a:t>Alejandra Miranda</a:t>
            </a:r>
            <a:r>
              <a:rPr lang="es-CL" sz="2400">
                <a:solidFill>
                  <a:schemeClr val="bg1"/>
                </a:solidFill>
              </a:rPr>
              <a:t>, Britanny Labraña </a:t>
            </a:r>
            <a:r>
              <a:rPr lang="es-CL" sz="2400" noProof="0">
                <a:solidFill>
                  <a:schemeClr val="bg1"/>
                </a:solidFill>
              </a:rPr>
              <a:t>&amp; </a:t>
            </a:r>
            <a:r>
              <a:rPr lang="es-CL" sz="2400">
                <a:solidFill>
                  <a:schemeClr val="bg1"/>
                </a:solidFill>
              </a:rPr>
              <a:t>Sebastián</a:t>
            </a:r>
            <a:r>
              <a:rPr lang="es-CL" sz="2400" noProof="0" dirty="0">
                <a:solidFill>
                  <a:schemeClr val="bg1"/>
                </a:solidFill>
              </a:rPr>
              <a:t> Araujo​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4343CC-0382-867F-E326-5C7C77CAF7D5}"/>
              </a:ext>
            </a:extLst>
          </p:cNvPr>
          <p:cNvSpPr txBox="1"/>
          <p:nvPr/>
        </p:nvSpPr>
        <p:spPr>
          <a:xfrm>
            <a:off x="1469037" y="5007991"/>
            <a:ext cx="198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F788D9-B27B-12DB-4F6C-38022E2660EA}"/>
              </a:ext>
            </a:extLst>
          </p:cNvPr>
          <p:cNvSpPr txBox="1"/>
          <p:nvPr/>
        </p:nvSpPr>
        <p:spPr>
          <a:xfrm>
            <a:off x="1287014" y="4901231"/>
            <a:ext cx="6463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</a:rPr>
              <a:t>Docente:</a:t>
            </a:r>
            <a:r>
              <a:rPr lang="es-CL" sz="2400" noProof="0" dirty="0">
                <a:solidFill>
                  <a:schemeClr val="bg1"/>
                </a:solidFill>
              </a:rPr>
              <a:t> Carolina Valeria Gómez Bravo​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835F1E-928D-EAB3-87DC-C6D35EDC5804}"/>
              </a:ext>
            </a:extLst>
          </p:cNvPr>
          <p:cNvSpPr txBox="1"/>
          <p:nvPr/>
        </p:nvSpPr>
        <p:spPr>
          <a:xfrm>
            <a:off x="1287015" y="5364831"/>
            <a:ext cx="5879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</a:rPr>
              <a:t>Asignatura:</a:t>
            </a:r>
            <a:r>
              <a:rPr lang="es-CL" sz="2400" noProof="0" dirty="0">
                <a:solidFill>
                  <a:schemeClr val="bg1"/>
                </a:solidFill>
              </a:rPr>
              <a:t> Cálculo Diferencial​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A42262-E536-F7B6-97A0-DFC17FBE7B9D}"/>
              </a:ext>
            </a:extLst>
          </p:cNvPr>
          <p:cNvSpPr txBox="1"/>
          <p:nvPr/>
        </p:nvSpPr>
        <p:spPr>
          <a:xfrm>
            <a:off x="1311997" y="5784131"/>
            <a:ext cx="58530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</a:rPr>
              <a:t>Sección:</a:t>
            </a:r>
            <a:r>
              <a:rPr lang="es-CL" sz="2400" noProof="0" dirty="0">
                <a:solidFill>
                  <a:schemeClr val="bg1"/>
                </a:solidFill>
              </a:rPr>
              <a:t> CVCD01/V-IEI-N5-P3-C1-CICLO1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67D2C7-27BF-A640-5C29-F4325CD48B9A}"/>
              </a:ext>
            </a:extLst>
          </p:cNvPr>
          <p:cNvSpPr txBox="1"/>
          <p:nvPr/>
        </p:nvSpPr>
        <p:spPr>
          <a:xfrm>
            <a:off x="1311997" y="6215921"/>
            <a:ext cx="71818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b="1" noProof="0" dirty="0">
                <a:solidFill>
                  <a:schemeClr val="bg1"/>
                </a:solidFill>
              </a:rPr>
              <a:t>Carrera:</a:t>
            </a:r>
            <a:r>
              <a:rPr lang="es-CL" sz="2400" noProof="0" dirty="0">
                <a:solidFill>
                  <a:schemeClr val="bg1"/>
                </a:solidFill>
              </a:rPr>
              <a:t> Ingeniería en Informática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19A3D51-DD0C-CFCE-5830-5965EAA8312B}"/>
                  </a:ext>
                </a:extLst>
              </p:cNvPr>
              <p:cNvSpPr txBox="1"/>
              <p:nvPr/>
            </p:nvSpPr>
            <p:spPr>
              <a:xfrm>
                <a:off x="2419788" y="2935545"/>
                <a:ext cx="3614098" cy="14976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4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L" sz="4000" b="0" i="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4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CL" sz="400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 sz="4000" b="0" i="1" noProof="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L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19A3D51-DD0C-CFCE-5830-5965EAA83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788" y="2935545"/>
                <a:ext cx="3614098" cy="1497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2E4364A-1148-797D-9C4B-DC30AB167155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9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58C3CB5-D45E-44F7-EABB-FCB7A061B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E418DAA-17D5-A062-9C58-B2FCD04745CE}"/>
              </a:ext>
            </a:extLst>
          </p:cNvPr>
          <p:cNvSpPr txBox="1"/>
          <p:nvPr/>
        </p:nvSpPr>
        <p:spPr>
          <a:xfrm>
            <a:off x="180633" y="641215"/>
            <a:ext cx="7008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Definición del proyecto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3D79644-C172-1172-70FB-553EDFB20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202" y="0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5F77C35-05FB-82D9-C323-C5B373081395}"/>
              </a:ext>
            </a:extLst>
          </p:cNvPr>
          <p:cNvSpPr txBox="1"/>
          <p:nvPr/>
        </p:nvSpPr>
        <p:spPr>
          <a:xfrm>
            <a:off x="174966" y="2273880"/>
            <a:ext cx="3140082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Decisiones cambiantes del usuario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>
                <a:solidFill>
                  <a:schemeClr val="bg1"/>
                </a:solidFill>
                <a:latin typeface="Aptos Black"/>
              </a:rPr>
              <a:t>Imprevisibilidad</a:t>
            </a:r>
            <a:r>
              <a:rPr lang="es-CL" sz="2400" noProof="0">
                <a:solidFill>
                  <a:schemeClr val="bg1"/>
                </a:solidFill>
                <a:latin typeface="Aptos Black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Variables cambiantes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50434C-B7C9-8173-2247-4FF0709B275D}"/>
              </a:ext>
            </a:extLst>
          </p:cNvPr>
          <p:cNvSpPr txBox="1"/>
          <p:nvPr/>
        </p:nvSpPr>
        <p:spPr>
          <a:xfrm>
            <a:off x="3311192" y="2763116"/>
            <a:ext cx="389934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Que se quiere lograr:</a:t>
            </a:r>
            <a:endParaRPr lang="es-CL" sz="2800" b="1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Desarrollar app predictora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Simular Comportamiento con distintas variables.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984C75D-F602-A4BA-8B41-66EEE31458AC}"/>
              </a:ext>
            </a:extLst>
          </p:cNvPr>
          <p:cNvSpPr txBox="1"/>
          <p:nvPr/>
        </p:nvSpPr>
        <p:spPr>
          <a:xfrm>
            <a:off x="7164159" y="3767255"/>
            <a:ext cx="4866144" cy="27392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sz="2800" b="1" noProof="0" dirty="0">
                <a:solidFill>
                  <a:schemeClr val="bg1"/>
                </a:solidFill>
              </a:rPr>
              <a:t>Resultados esperados: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Obtener una </a:t>
            </a:r>
            <a:r>
              <a:rPr lang="es-CL" sz="2400" b="1" noProof="0">
                <a:solidFill>
                  <a:schemeClr val="bg1"/>
                </a:solidFill>
                <a:latin typeface="Aptos Black"/>
              </a:rPr>
              <a:t>probabilidad </a:t>
            </a:r>
            <a:r>
              <a:rPr lang="es-CL" sz="2400" b="1">
                <a:solidFill>
                  <a:schemeClr val="bg1"/>
                </a:solidFill>
                <a:latin typeface="Aptos Black"/>
              </a:rPr>
              <a:t> </a:t>
            </a:r>
            <a:r>
              <a:rPr lang="es-CL" sz="2400" b="1" noProof="0">
                <a:solidFill>
                  <a:schemeClr val="bg1"/>
                </a:solidFill>
                <a:latin typeface="Aptos Black"/>
              </a:rPr>
              <a:t>(%</a:t>
            </a:r>
            <a:r>
              <a:rPr lang="es-CL" sz="2400" b="1" noProof="0" dirty="0">
                <a:solidFill>
                  <a:schemeClr val="bg1"/>
                </a:solidFill>
                <a:latin typeface="Aptos Black"/>
              </a:rPr>
              <a:t>) de compra o clic</a:t>
            </a: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Visualizar el resultado de forma clara y resumida.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Generar una </a:t>
            </a:r>
            <a:r>
              <a:rPr lang="es-CL" sz="2400" b="1" noProof="0">
                <a:solidFill>
                  <a:schemeClr val="bg1"/>
                </a:solidFill>
                <a:latin typeface="Aptos Black"/>
              </a:rPr>
              <a:t>explicación</a:t>
            </a:r>
            <a:r>
              <a:rPr lang="es-CL" sz="2400" b="1">
                <a:solidFill>
                  <a:schemeClr val="bg1"/>
                </a:solidFill>
                <a:latin typeface="Aptos Black"/>
              </a:rPr>
              <a:t> </a:t>
            </a:r>
            <a:r>
              <a:rPr lang="es-CL" sz="2400" b="1" noProof="0">
                <a:solidFill>
                  <a:schemeClr val="bg1"/>
                </a:solidFill>
                <a:latin typeface="Aptos Black"/>
              </a:rPr>
              <a:t> inte</a:t>
            </a:r>
            <a:r>
              <a:rPr lang="es-CL" sz="2400" b="1" noProof="0" dirty="0">
                <a:solidFill>
                  <a:schemeClr val="bg1"/>
                </a:solidFill>
                <a:latin typeface="Aptos Black"/>
              </a:rPr>
              <a:t>rpretativa</a:t>
            </a: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 del resultado.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B34B3E-ED15-A0FD-8690-6AF92EB8352E}"/>
              </a:ext>
            </a:extLst>
          </p:cNvPr>
          <p:cNvSpPr txBox="1"/>
          <p:nvPr/>
        </p:nvSpPr>
        <p:spPr>
          <a:xfrm>
            <a:off x="375679" y="1714941"/>
            <a:ext cx="45911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800">
                <a:solidFill>
                  <a:schemeClr val="bg1"/>
                </a:solidFill>
                <a:latin typeface="Aptos Black"/>
              </a:rPr>
              <a:t>Problemática</a:t>
            </a:r>
            <a:endParaRPr lang="es-CL" sz="28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D1E921-492D-6A91-1AE9-08EEE24F47E6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4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3" descr="A black surface with white spots">
            <a:extLst>
              <a:ext uri="{FF2B5EF4-FFF2-40B4-BE49-F238E27FC236}">
                <a16:creationId xmlns:a16="http://schemas.microsoft.com/office/drawing/2014/main" id="{C619C3FE-8776-5523-F219-AEF1CD56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92" y="-12492"/>
            <a:ext cx="12191999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13">
                <a:extLst>
                  <a:ext uri="{FF2B5EF4-FFF2-40B4-BE49-F238E27FC236}">
                    <a16:creationId xmlns:a16="http://schemas.microsoft.com/office/drawing/2014/main" id="{74DC55DE-F520-0BAB-6B1F-0CA41CDF7862}"/>
                  </a:ext>
                </a:extLst>
              </p:cNvPr>
              <p:cNvSpPr txBox="1"/>
              <p:nvPr/>
            </p:nvSpPr>
            <p:spPr>
              <a:xfrm>
                <a:off x="1618949" y="3955946"/>
                <a:ext cx="89155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L" sz="40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13">
                <a:extLst>
                  <a:ext uri="{FF2B5EF4-FFF2-40B4-BE49-F238E27FC236}">
                    <a16:creationId xmlns:a16="http://schemas.microsoft.com/office/drawing/2014/main" id="{74DC55DE-F520-0BAB-6B1F-0CA41CDF7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49" y="3955946"/>
                <a:ext cx="8915527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3">
            <a:extLst>
              <a:ext uri="{FF2B5EF4-FFF2-40B4-BE49-F238E27FC236}">
                <a16:creationId xmlns:a16="http://schemas.microsoft.com/office/drawing/2014/main" id="{98632355-A2B5-D621-8C39-C600C308CAE5}"/>
              </a:ext>
            </a:extLst>
          </p:cNvPr>
          <p:cNvSpPr txBox="1"/>
          <p:nvPr/>
        </p:nvSpPr>
        <p:spPr>
          <a:xfrm>
            <a:off x="221060" y="6061"/>
            <a:ext cx="7675221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400">
                <a:solidFill>
                  <a:schemeClr val="bg1"/>
                </a:solidFill>
                <a:latin typeface="Aptos Black"/>
              </a:rPr>
              <a:t>Tema de investigación, nociones matemáticas </a:t>
            </a:r>
          </a:p>
        </p:txBody>
      </p:sp>
      <p:pic>
        <p:nvPicPr>
          <p:cNvPr id="11" name="Picture 2" descr="An orange arrow on a black background&#10;&#10;AI-generated content may be incorrect.">
            <a:extLst>
              <a:ext uri="{FF2B5EF4-FFF2-40B4-BE49-F238E27FC236}">
                <a16:creationId xmlns:a16="http://schemas.microsoft.com/office/drawing/2014/main" id="{FB411D7C-9AA5-E32A-4B99-5646FD1BB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223" y="-167544"/>
            <a:ext cx="2371611" cy="244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21">
            <a:extLst>
              <a:ext uri="{FF2B5EF4-FFF2-40B4-BE49-F238E27FC236}">
                <a16:creationId xmlns:a16="http://schemas.microsoft.com/office/drawing/2014/main" id="{45471B33-9157-519B-0024-C305A84D5165}"/>
              </a:ext>
            </a:extLst>
          </p:cNvPr>
          <p:cNvSpPr txBox="1"/>
          <p:nvPr/>
        </p:nvSpPr>
        <p:spPr>
          <a:xfrm>
            <a:off x="-11033" y="2278089"/>
            <a:ext cx="89506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800">
                <a:solidFill>
                  <a:schemeClr val="bg1"/>
                </a:solidFill>
                <a:latin typeface="Aptos"/>
              </a:rPr>
              <a:t>Modelos</a:t>
            </a:r>
            <a:r>
              <a:rPr lang="es-CL" sz="2800" noProof="0">
                <a:solidFill>
                  <a:schemeClr val="bg1"/>
                </a:solidFill>
              </a:rPr>
              <a:t> predictivos</a:t>
            </a:r>
            <a:r>
              <a:rPr lang="es-CL" sz="2800">
                <a:solidFill>
                  <a:schemeClr val="bg1"/>
                </a:solidFill>
              </a:rPr>
              <a:t> &amp; comportamiento</a:t>
            </a:r>
            <a:r>
              <a:rPr lang="es-CL" sz="2800" noProof="0">
                <a:solidFill>
                  <a:schemeClr val="bg1"/>
                </a:solidFill>
              </a:rPr>
              <a:t> del consumidor.  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4" name="CuadroTexto 9">
            <a:extLst>
              <a:ext uri="{FF2B5EF4-FFF2-40B4-BE49-F238E27FC236}">
                <a16:creationId xmlns:a16="http://schemas.microsoft.com/office/drawing/2014/main" id="{D46A8FA9-96E0-0549-FF99-934D41B71680}"/>
              </a:ext>
            </a:extLst>
          </p:cNvPr>
          <p:cNvSpPr txBox="1"/>
          <p:nvPr/>
        </p:nvSpPr>
        <p:spPr>
          <a:xfrm>
            <a:off x="2547843" y="2842553"/>
            <a:ext cx="674914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sz="3200" b="1" noProof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32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3200" b="1" noProof="0">
                <a:solidFill>
                  <a:schemeClr val="bg1"/>
                </a:solidFill>
                <a:latin typeface="Aptos Black"/>
              </a:rPr>
              <a:t> Generales</a:t>
            </a:r>
            <a:r>
              <a:rPr lang="es-CL" sz="3200" noProof="0" dirty="0">
                <a:solidFill>
                  <a:schemeClr val="bg1"/>
                </a:solidFill>
              </a:rPr>
              <a:t>​</a:t>
            </a:r>
          </a:p>
        </p:txBody>
      </p:sp>
      <p:sp>
        <p:nvSpPr>
          <p:cNvPr id="16" name="CuadroTexto 9">
            <a:extLst>
              <a:ext uri="{FF2B5EF4-FFF2-40B4-BE49-F238E27FC236}">
                <a16:creationId xmlns:a16="http://schemas.microsoft.com/office/drawing/2014/main" id="{67411E4E-86E7-8253-1B2A-B2AC37E71483}"/>
              </a:ext>
            </a:extLst>
          </p:cNvPr>
          <p:cNvSpPr txBox="1"/>
          <p:nvPr/>
        </p:nvSpPr>
        <p:spPr>
          <a:xfrm>
            <a:off x="-826998" y="1689484"/>
            <a:ext cx="674914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sz="3200" b="1" dirty="0">
                <a:solidFill>
                  <a:schemeClr val="bg1"/>
                </a:solidFill>
                <a:latin typeface="Aptos Black"/>
              </a:rPr>
              <a:t>Tema </a:t>
            </a:r>
            <a:r>
              <a:rPr lang="es-CL" sz="3200" b="1">
                <a:solidFill>
                  <a:schemeClr val="bg1"/>
                </a:solidFill>
                <a:latin typeface="Aptos Black"/>
              </a:rPr>
              <a:t>Investigación</a:t>
            </a:r>
            <a:endParaRPr lang="en-US"/>
          </a:p>
        </p:txBody>
      </p:sp>
      <p:sp>
        <p:nvSpPr>
          <p:cNvPr id="18" name="CuadroTexto 2">
            <a:extLst>
              <a:ext uri="{FF2B5EF4-FFF2-40B4-BE49-F238E27FC236}">
                <a16:creationId xmlns:a16="http://schemas.microsoft.com/office/drawing/2014/main" id="{0796D5CA-F50A-C68F-339F-D6A6C37B85DF}"/>
              </a:ext>
            </a:extLst>
          </p:cNvPr>
          <p:cNvSpPr txBox="1"/>
          <p:nvPr/>
        </p:nvSpPr>
        <p:spPr>
          <a:xfrm>
            <a:off x="4188147" y="3430513"/>
            <a:ext cx="347109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800" b="1">
                <a:solidFill>
                  <a:schemeClr val="bg1"/>
                </a:solidFill>
              </a:rPr>
              <a:t>Combinación</a:t>
            </a:r>
            <a:r>
              <a:rPr lang="es-CL" sz="2800" b="1" noProof="0">
                <a:solidFill>
                  <a:schemeClr val="bg1"/>
                </a:solidFill>
              </a:rPr>
              <a:t> lineal</a:t>
            </a:r>
            <a:r>
              <a:rPr lang="es-CL" sz="2800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0" name="CuadroTexto 8">
            <a:extLst>
              <a:ext uri="{FF2B5EF4-FFF2-40B4-BE49-F238E27FC236}">
                <a16:creationId xmlns:a16="http://schemas.microsoft.com/office/drawing/2014/main" id="{E80716E8-562E-2FEF-9655-5121F994B4F1}"/>
              </a:ext>
            </a:extLst>
          </p:cNvPr>
          <p:cNvSpPr txBox="1"/>
          <p:nvPr/>
        </p:nvSpPr>
        <p:spPr>
          <a:xfrm>
            <a:off x="224238" y="4802805"/>
            <a:ext cx="8942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noProof="0" dirty="0">
                <a:solidFill>
                  <a:schemeClr val="bg1"/>
                </a:solidFill>
              </a:rPr>
              <a:t>W =</a:t>
            </a:r>
            <a:r>
              <a:rPr lang="es-CL" sz="2000" noProof="0" dirty="0">
                <a:solidFill>
                  <a:schemeClr val="bg1"/>
                </a:solidFill>
              </a:rPr>
              <a:t>indica que tan importante es una variable para el modelo.</a:t>
            </a:r>
          </a:p>
        </p:txBody>
      </p:sp>
      <p:sp>
        <p:nvSpPr>
          <p:cNvPr id="22" name="CuadroTexto 11">
            <a:extLst>
              <a:ext uri="{FF2B5EF4-FFF2-40B4-BE49-F238E27FC236}">
                <a16:creationId xmlns:a16="http://schemas.microsoft.com/office/drawing/2014/main" id="{D94A699A-7008-3DF7-23B5-B8B7D16535FD}"/>
              </a:ext>
            </a:extLst>
          </p:cNvPr>
          <p:cNvSpPr txBox="1"/>
          <p:nvPr/>
        </p:nvSpPr>
        <p:spPr>
          <a:xfrm>
            <a:off x="259150" y="5324001"/>
            <a:ext cx="654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noProof="0" dirty="0">
                <a:solidFill>
                  <a:schemeClr val="bg1"/>
                </a:solidFill>
              </a:rPr>
              <a:t>x=</a:t>
            </a:r>
            <a:r>
              <a:rPr lang="es-CL" noProof="0" dirty="0">
                <a:solidFill>
                  <a:schemeClr val="bg1"/>
                </a:solidFill>
              </a:rPr>
              <a:t>variable de entrada, si es de poca importancia suma poco. </a:t>
            </a:r>
            <a:endParaRPr lang="es-CL" sz="2000" noProof="0" dirty="0">
              <a:solidFill>
                <a:schemeClr val="bg1"/>
              </a:solidFill>
            </a:endParaRPr>
          </a:p>
        </p:txBody>
      </p:sp>
      <p:sp>
        <p:nvSpPr>
          <p:cNvPr id="24" name="CuadroTexto 12">
            <a:extLst>
              <a:ext uri="{FF2B5EF4-FFF2-40B4-BE49-F238E27FC236}">
                <a16:creationId xmlns:a16="http://schemas.microsoft.com/office/drawing/2014/main" id="{352C0DD9-5DE6-9468-26B6-2B9B3E9248BC}"/>
              </a:ext>
            </a:extLst>
          </p:cNvPr>
          <p:cNvSpPr txBox="1"/>
          <p:nvPr/>
        </p:nvSpPr>
        <p:spPr>
          <a:xfrm>
            <a:off x="259957" y="5847538"/>
            <a:ext cx="113095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W y X </a:t>
            </a:r>
            <a:r>
              <a:rPr lang="es-CL" noProof="0" dirty="0">
                <a:solidFill>
                  <a:schemeClr val="bg1"/>
                </a:solidFill>
              </a:rPr>
              <a:t>se multiplican y se suman a </a:t>
            </a:r>
            <a:r>
              <a:rPr lang="es-CL" b="1" noProof="0" dirty="0">
                <a:solidFill>
                  <a:schemeClr val="bg1"/>
                </a:solidFill>
              </a:rPr>
              <a:t>"b"</a:t>
            </a:r>
            <a:r>
              <a:rPr lang="es-CL" noProof="0" dirty="0">
                <a:solidFill>
                  <a:schemeClr val="bg1"/>
                </a:solidFill>
              </a:rPr>
              <a:t>, el que es un valor base que marca un punto de partida, la tendencia base del modelo.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B4BC7-E79F-EE8D-8CA5-C4138119D775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4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B8B8-6E51-0798-422D-036CFF96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4D54E88A-3BF8-FACE-F8A4-80B471E4C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2D16469-C310-3C81-14FD-BCF27ACC2A2B}"/>
              </a:ext>
            </a:extLst>
          </p:cNvPr>
          <p:cNvSpPr txBox="1"/>
          <p:nvPr/>
        </p:nvSpPr>
        <p:spPr>
          <a:xfrm>
            <a:off x="92048" y="139206"/>
            <a:ext cx="71632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800" b="1" noProof="0" dirty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4800" b="1" noProof="0">
                <a:solidFill>
                  <a:schemeClr val="bg1"/>
                </a:solidFill>
                <a:latin typeface="Aptos Black"/>
              </a:rPr>
              <a:t>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Generales</a:t>
            </a:r>
            <a:endParaRPr lang="es-CL" sz="4800" noProof="0" dirty="0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80E74C-AEC4-0419-39E1-509633A86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386" y="-167453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73AD473-BDAD-9E8E-6517-EC6FB22987E6}"/>
              </a:ext>
            </a:extLst>
          </p:cNvPr>
          <p:cNvSpPr txBox="1"/>
          <p:nvPr/>
        </p:nvSpPr>
        <p:spPr>
          <a:xfrm>
            <a:off x="1231878" y="1836074"/>
            <a:ext cx="486412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200" b="1">
                <a:solidFill>
                  <a:schemeClr val="bg1"/>
                </a:solidFill>
              </a:rPr>
              <a:t>Combinación</a:t>
            </a:r>
            <a:r>
              <a:rPr lang="es-CL" sz="3200" b="1" noProof="0">
                <a:solidFill>
                  <a:schemeClr val="bg1"/>
                </a:solidFill>
              </a:rPr>
              <a:t> lineal</a:t>
            </a:r>
            <a:r>
              <a:rPr lang="es-CL" sz="3200" noProof="0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C41E9E2-FB9A-5F94-9216-BD3971AA5C52}"/>
                  </a:ext>
                </a:extLst>
              </p:cNvPr>
              <p:cNvSpPr txBox="1"/>
              <p:nvPr/>
            </p:nvSpPr>
            <p:spPr>
              <a:xfrm>
                <a:off x="1638235" y="2655483"/>
                <a:ext cx="89155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L" sz="40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C41E9E2-FB9A-5F94-9216-BD3971AA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35" y="2655483"/>
                <a:ext cx="8915527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63D89A6D-2817-AEB3-BA29-E9CF055DF554}"/>
              </a:ext>
            </a:extLst>
          </p:cNvPr>
          <p:cNvSpPr txBox="1"/>
          <p:nvPr/>
        </p:nvSpPr>
        <p:spPr>
          <a:xfrm>
            <a:off x="685800" y="3438489"/>
            <a:ext cx="4864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noProof="0" dirty="0">
                <a:solidFill>
                  <a:schemeClr val="bg1"/>
                </a:solidFill>
              </a:rPr>
              <a:t>Ejemplo: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1BD59B-A72A-6FAF-F435-53B62811409F}"/>
              </a:ext>
            </a:extLst>
          </p:cNvPr>
          <p:cNvSpPr txBox="1"/>
          <p:nvPr/>
        </p:nvSpPr>
        <p:spPr>
          <a:xfrm>
            <a:off x="5143500" y="3628706"/>
            <a:ext cx="4864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noProof="0" dirty="0">
                <a:solidFill>
                  <a:schemeClr val="bg1"/>
                </a:solidFill>
              </a:rPr>
              <a:t>Ejemplo: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6B27C9-9B4A-C4A4-749D-970450C8E7B1}"/>
              </a:ext>
            </a:extLst>
          </p:cNvPr>
          <p:cNvSpPr txBox="1"/>
          <p:nvPr/>
        </p:nvSpPr>
        <p:spPr>
          <a:xfrm>
            <a:off x="9074139" y="3505670"/>
            <a:ext cx="4864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noProof="0" dirty="0">
                <a:solidFill>
                  <a:schemeClr val="bg1"/>
                </a:solidFill>
              </a:rPr>
              <a:t>Ejemplo: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D62270-0A63-E763-0609-C87EE96B33D8}"/>
              </a:ext>
            </a:extLst>
          </p:cNvPr>
          <p:cNvSpPr txBox="1"/>
          <p:nvPr/>
        </p:nvSpPr>
        <p:spPr>
          <a:xfrm>
            <a:off x="320664" y="4090445"/>
            <a:ext cx="37274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rating =</a:t>
            </a:r>
            <a:r>
              <a:rPr lang="es-CL" sz="2400" noProof="0" dirty="0">
                <a:solidFill>
                  <a:schemeClr val="bg1"/>
                </a:solidFill>
              </a:rPr>
              <a:t> 4 → x = 0.8 (número asignado) ​</a:t>
            </a:r>
          </a:p>
          <a:p>
            <a:pPr fontAlgn="base"/>
            <a:r>
              <a:rPr lang="es-CL" sz="2400" noProof="0" dirty="0" err="1">
                <a:solidFill>
                  <a:schemeClr val="bg1"/>
                </a:solidFill>
              </a:rPr>
              <a:t>w_rating</a:t>
            </a:r>
            <a:r>
              <a:rPr lang="es-CL" sz="2400" noProof="0" dirty="0">
                <a:solidFill>
                  <a:schemeClr val="bg1"/>
                </a:solidFill>
              </a:rPr>
              <a:t> = 2.0 (muy importante)​</a:t>
            </a:r>
          </a:p>
          <a:p>
            <a:pPr fontAlgn="base"/>
            <a:r>
              <a:rPr lang="es-CL" sz="2400" noProof="0" dirty="0">
                <a:solidFill>
                  <a:schemeClr val="bg1"/>
                </a:solidFill>
              </a:rPr>
              <a:t>w * x = 2.0 * 0.8 = 1.6 ​</a:t>
            </a:r>
          </a:p>
          <a:p>
            <a:pPr fontAlgn="base"/>
            <a:r>
              <a:rPr lang="es-CL" sz="2400" noProof="0" dirty="0">
                <a:solidFill>
                  <a:schemeClr val="bg1"/>
                </a:solidFill>
              </a:rPr>
              <a:t>Aporta 1.6 a z. Se suma a z. </a:t>
            </a:r>
          </a:p>
          <a:p>
            <a:endParaRPr lang="es-CL" sz="2400" noProof="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D2AC8EC-5389-002D-4744-7AF45F4E8645}"/>
              </a:ext>
            </a:extLst>
          </p:cNvPr>
          <p:cNvSpPr txBox="1"/>
          <p:nvPr/>
        </p:nvSpPr>
        <p:spPr>
          <a:xfrm>
            <a:off x="4997473" y="4190717"/>
            <a:ext cx="2419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urgencia = </a:t>
            </a:r>
            <a:r>
              <a:rPr lang="es-CL" sz="2400" noProof="0" dirty="0">
                <a:solidFill>
                  <a:schemeClr val="bg1"/>
                </a:solidFill>
              </a:rPr>
              <a:t>0.2​</a:t>
            </a:r>
            <a:br>
              <a:rPr lang="es-CL" sz="2400" noProof="0" dirty="0">
                <a:solidFill>
                  <a:schemeClr val="bg1"/>
                </a:solidFill>
              </a:rPr>
            </a:br>
            <a:r>
              <a:rPr lang="es-CL" sz="2400" noProof="0" dirty="0" err="1">
                <a:solidFill>
                  <a:schemeClr val="bg1"/>
                </a:solidFill>
              </a:rPr>
              <a:t>w_urgencia</a:t>
            </a:r>
            <a:r>
              <a:rPr lang="es-CL" sz="2400" noProof="0" dirty="0">
                <a:solidFill>
                  <a:schemeClr val="bg1"/>
                </a:solidFill>
              </a:rPr>
              <a:t> = 1.0 (poco)​</a:t>
            </a:r>
          </a:p>
          <a:p>
            <a:pPr fontAlgn="base"/>
            <a:r>
              <a:rPr lang="es-CL" sz="2400" noProof="0" dirty="0">
                <a:solidFill>
                  <a:schemeClr val="bg1"/>
                </a:solidFill>
              </a:rPr>
              <a:t>1.0 * 0.2 = 0.2 Aporta poco a valor de z.</a:t>
            </a:r>
          </a:p>
          <a:p>
            <a:endParaRPr lang="es-CL" sz="2400" noProof="0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CAE4F60-D8DB-4E34-E4BB-5B48FD3A900E}"/>
              </a:ext>
            </a:extLst>
          </p:cNvPr>
          <p:cNvSpPr txBox="1"/>
          <p:nvPr/>
        </p:nvSpPr>
        <p:spPr>
          <a:xfrm>
            <a:off x="9074139" y="4213481"/>
            <a:ext cx="2641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precio alto → </a:t>
            </a:r>
            <a:r>
              <a:rPr lang="es-CL" sz="2400" noProof="0" dirty="0">
                <a:solidFill>
                  <a:schemeClr val="bg1"/>
                </a:solidFill>
              </a:rPr>
              <a:t>x ≈ 1​</a:t>
            </a:r>
            <a:br>
              <a:rPr lang="es-CL" sz="2400" noProof="0" dirty="0">
                <a:solidFill>
                  <a:schemeClr val="bg1"/>
                </a:solidFill>
              </a:rPr>
            </a:br>
            <a:r>
              <a:rPr lang="es-CL" sz="2400" noProof="0" dirty="0" err="1">
                <a:solidFill>
                  <a:schemeClr val="bg1"/>
                </a:solidFill>
              </a:rPr>
              <a:t>w_precio</a:t>
            </a:r>
            <a:r>
              <a:rPr lang="es-CL" sz="2400" noProof="0" dirty="0">
                <a:solidFill>
                  <a:schemeClr val="bg1"/>
                </a:solidFill>
              </a:rPr>
              <a:t> = -1.8​</a:t>
            </a:r>
          </a:p>
          <a:p>
            <a:pPr fontAlgn="base"/>
            <a:r>
              <a:rPr lang="es-CL" sz="2400" noProof="0" dirty="0">
                <a:solidFill>
                  <a:schemeClr val="bg1"/>
                </a:solidFill>
              </a:rPr>
              <a:t>-1.8 * 1 = -1.8 se resta a z.</a:t>
            </a:r>
          </a:p>
          <a:p>
            <a:endParaRPr lang="es-CL" sz="24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B17B36-5D2B-474C-E91B-3E95AEFC0E1A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6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5" descr="A black surface with white marks">
            <a:extLst>
              <a:ext uri="{FF2B5EF4-FFF2-40B4-BE49-F238E27FC236}">
                <a16:creationId xmlns:a16="http://schemas.microsoft.com/office/drawing/2014/main" id="{D8A26051-9773-3B2A-E42C-583CC0C44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CuadroTexto 3">
            <a:extLst>
              <a:ext uri="{FF2B5EF4-FFF2-40B4-BE49-F238E27FC236}">
                <a16:creationId xmlns:a16="http://schemas.microsoft.com/office/drawing/2014/main" id="{C832184D-F56A-52F7-52BF-6355B74EF4F5}"/>
              </a:ext>
            </a:extLst>
          </p:cNvPr>
          <p:cNvSpPr txBox="1"/>
          <p:nvPr/>
        </p:nvSpPr>
        <p:spPr>
          <a:xfrm>
            <a:off x="132610" y="293498"/>
            <a:ext cx="682987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800" b="1" noProof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4800" b="1" noProof="0">
                <a:solidFill>
                  <a:schemeClr val="bg1"/>
                </a:solidFill>
                <a:latin typeface="Aptos Black"/>
              </a:rPr>
              <a:t>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Generales</a:t>
            </a:r>
            <a:endParaRPr lang="es-CL" sz="4800" noProof="0" dirty="0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9" name="Picture 2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EF00FC10-B87B-BCCC-102A-C4984433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354" y="-3527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5DEAC56D-0C78-769C-1338-FC419720FB9B}"/>
              </a:ext>
            </a:extLst>
          </p:cNvPr>
          <p:cNvSpPr txBox="1"/>
          <p:nvPr/>
        </p:nvSpPr>
        <p:spPr>
          <a:xfrm>
            <a:off x="129998" y="1992828"/>
            <a:ext cx="3597075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ptos Black"/>
              </a:rPr>
              <a:t>Función sigmoide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3">
                <a:extLst>
                  <a:ext uri="{FF2B5EF4-FFF2-40B4-BE49-F238E27FC236}">
                    <a16:creationId xmlns:a16="http://schemas.microsoft.com/office/drawing/2014/main" id="{2502D3D7-553D-F924-CDE6-DF3FD6B44669}"/>
                  </a:ext>
                </a:extLst>
              </p:cNvPr>
              <p:cNvSpPr txBox="1"/>
              <p:nvPr/>
            </p:nvSpPr>
            <p:spPr>
              <a:xfrm>
                <a:off x="1955822" y="2546105"/>
                <a:ext cx="3614098" cy="14976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4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4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CL" sz="400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 sz="4000" b="0" i="1" noProof="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L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3">
                <a:extLst>
                  <a:ext uri="{FF2B5EF4-FFF2-40B4-BE49-F238E27FC236}">
                    <a16:creationId xmlns:a16="http://schemas.microsoft.com/office/drawing/2014/main" id="{2502D3D7-553D-F924-CDE6-DF3FD6B44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822" y="2546105"/>
                <a:ext cx="3614098" cy="1497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5">
            <a:extLst>
              <a:ext uri="{FF2B5EF4-FFF2-40B4-BE49-F238E27FC236}">
                <a16:creationId xmlns:a16="http://schemas.microsoft.com/office/drawing/2014/main" id="{21EF61C1-B842-4875-5430-E028D209E379}"/>
              </a:ext>
            </a:extLst>
          </p:cNvPr>
          <p:cNvSpPr txBox="1"/>
          <p:nvPr/>
        </p:nvSpPr>
        <p:spPr>
          <a:xfrm>
            <a:off x="126227" y="3979104"/>
            <a:ext cx="639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Límites (aplicación implícita):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7">
                <a:extLst>
                  <a:ext uri="{FF2B5EF4-FFF2-40B4-BE49-F238E27FC236}">
                    <a16:creationId xmlns:a16="http://schemas.microsoft.com/office/drawing/2014/main" id="{6297F1C3-B953-D1F8-3256-9D8D59570114}"/>
                  </a:ext>
                </a:extLst>
              </p:cNvPr>
              <p:cNvSpPr txBox="1"/>
              <p:nvPr/>
            </p:nvSpPr>
            <p:spPr>
              <a:xfrm>
                <a:off x="423049" y="4811764"/>
                <a:ext cx="5254171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2400" b="1" noProof="0" dirty="0">
                    <a:solidFill>
                      <a:schemeClr val="bg1"/>
                    </a:solidFill>
                  </a:rPr>
                  <a:t>Valores altos →</a:t>
                </a:r>
                <a:r>
                  <a:rPr lang="es-CL" sz="2400" noProof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s-CL" sz="24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L" sz="240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fName>
                          <m:e>
                            <m:r>
                              <a:rPr lang="es-CL" sz="2400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  <m:sub>
                        <m: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L" sz="240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s-CL" sz="24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L" sz="240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L" sz="2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uadroTexto 17">
                <a:extLst>
                  <a:ext uri="{FF2B5EF4-FFF2-40B4-BE49-F238E27FC236}">
                    <a16:creationId xmlns:a16="http://schemas.microsoft.com/office/drawing/2014/main" id="{6297F1C3-B953-D1F8-3256-9D8D59570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49" y="4811764"/>
                <a:ext cx="5254171" cy="484941"/>
              </a:xfrm>
              <a:prstGeom prst="rect">
                <a:avLst/>
              </a:prstGeom>
              <a:blipFill>
                <a:blip r:embed="rId5"/>
                <a:stretch>
                  <a:fillRect l="-1740" t="-10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9">
                <a:extLst>
                  <a:ext uri="{FF2B5EF4-FFF2-40B4-BE49-F238E27FC236}">
                    <a16:creationId xmlns:a16="http://schemas.microsoft.com/office/drawing/2014/main" id="{B9FE8A5D-4748-A34D-B252-EBA5C09FF962}"/>
                  </a:ext>
                </a:extLst>
              </p:cNvPr>
              <p:cNvSpPr txBox="1"/>
              <p:nvPr/>
            </p:nvSpPr>
            <p:spPr>
              <a:xfrm>
                <a:off x="422580" y="5540959"/>
                <a:ext cx="5481956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2400" b="1" noProof="0" dirty="0">
                    <a:solidFill>
                      <a:schemeClr val="bg1"/>
                    </a:solidFill>
                  </a:rPr>
                  <a:t>Valores bajos →</a:t>
                </a:r>
                <a:r>
                  <a:rPr lang="es-CL" sz="2400" noProof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s-CL" sz="24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L" sz="2400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fName>
                          <m:e>
                            <m:r>
                              <a:rPr lang="es-CL" sz="2400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  <m:sub>
                        <m: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L" sz="240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→−∞</m:t>
                        </m:r>
                      </m:sub>
                    </m:sSub>
                    <m:r>
                      <a:rPr lang="es-CL" sz="24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L" sz="240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CL" sz="2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uadroTexto 19">
                <a:extLst>
                  <a:ext uri="{FF2B5EF4-FFF2-40B4-BE49-F238E27FC236}">
                    <a16:creationId xmlns:a16="http://schemas.microsoft.com/office/drawing/2014/main" id="{B9FE8A5D-4748-A34D-B252-EBA5C09F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80" y="5540959"/>
                <a:ext cx="5481956" cy="484941"/>
              </a:xfrm>
              <a:prstGeom prst="rect">
                <a:avLst/>
              </a:prstGeom>
              <a:blipFill>
                <a:blip r:embed="rId6"/>
                <a:stretch>
                  <a:fillRect l="-1667" t="-10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70639B9-89E8-97EA-20AF-8710B746B82A}"/>
                  </a:ext>
                </a:extLst>
              </p:cNvPr>
              <p:cNvSpPr txBox="1"/>
              <p:nvPr/>
            </p:nvSpPr>
            <p:spPr>
              <a:xfrm>
                <a:off x="513828" y="6295296"/>
                <a:ext cx="5481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2400" b="1" noProof="0" dirty="0">
                    <a:solidFill>
                      <a:schemeClr val="bg1"/>
                    </a:solidFill>
                  </a:rPr>
                  <a:t>Rango del modelo →</a:t>
                </a:r>
                <a:r>
                  <a:rPr lang="es-CL" sz="2400" noProof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CL" sz="240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s-CL" sz="24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4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L" sz="240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s-CL" sz="24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470639B9-89E8-97EA-20AF-8710B746B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28" y="6295296"/>
                <a:ext cx="5481956" cy="461665"/>
              </a:xfrm>
              <a:prstGeom prst="rect">
                <a:avLst/>
              </a:prstGeom>
              <a:blipFill>
                <a:blip r:embed="rId7"/>
                <a:stretch>
                  <a:fillRect l="-1667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15">
            <a:extLst>
              <a:ext uri="{FF2B5EF4-FFF2-40B4-BE49-F238E27FC236}">
                <a16:creationId xmlns:a16="http://schemas.microsoft.com/office/drawing/2014/main" id="{A427A551-73E2-834E-0C3A-26C6280F5727}"/>
              </a:ext>
            </a:extLst>
          </p:cNvPr>
          <p:cNvSpPr txBox="1"/>
          <p:nvPr/>
        </p:nvSpPr>
        <p:spPr>
          <a:xfrm>
            <a:off x="7758718" y="2964924"/>
            <a:ext cx="267535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200" b="1">
                <a:solidFill>
                  <a:schemeClr val="bg1"/>
                </a:solidFill>
                <a:latin typeface="Aptos Black"/>
              </a:rPr>
              <a:t>Continuidad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2B0C0F-E32D-869C-38AD-94954778DF99}"/>
              </a:ext>
            </a:extLst>
          </p:cNvPr>
          <p:cNvSpPr txBox="1"/>
          <p:nvPr/>
        </p:nvSpPr>
        <p:spPr>
          <a:xfrm>
            <a:off x="6520722" y="3610131"/>
            <a:ext cx="515911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rtl="0">
              <a:buFont typeface="Arial,Sans-Serif"/>
              <a:buChar char="•"/>
            </a:pPr>
            <a:r>
              <a:rPr lang="es-CL" sz="2400" b="0" i="0" u="none" strike="noStrike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La función sigmoide es continua​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just" rtl="0">
              <a:buFont typeface="Arial,Sans-Serif"/>
              <a:buChar char="•"/>
            </a:pPr>
            <a:r>
              <a:rPr lang="es-CL" sz="2400" b="0" i="0" u="none" strike="noStrike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No presenta saltos bruscos​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just" rtl="0">
              <a:buFont typeface="Arial,Sans-Serif"/>
              <a:buChar char="•"/>
            </a:pPr>
            <a:r>
              <a:rPr lang="es-CL" sz="2400" b="0" i="0" u="none" strike="noStrike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Pequeños cambios en las variables implican pequeños cambios en la predicción​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just" rtl="0">
              <a:buFont typeface="Arial,Sans-Serif"/>
              <a:buChar char="•"/>
            </a:pPr>
            <a:r>
              <a:rPr lang="es-CL" sz="2400" b="0" i="0" u="none" strike="noStrike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Permite ajustar un comportamiento más realista del modelo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8650E-FC0B-1189-11CA-D11691A60C1E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F44D-F34E-D05A-9E55-B556760A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ágenes de Fondo De Pizarra | Descarga imágenes gratuitas ...">
            <a:extLst>
              <a:ext uri="{FF2B5EF4-FFF2-40B4-BE49-F238E27FC236}">
                <a16:creationId xmlns:a16="http://schemas.microsoft.com/office/drawing/2014/main" id="{0DE0F94D-7CF3-C3F3-033A-7215179A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" y="-638767"/>
            <a:ext cx="12191999" cy="749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E7313C5-A2BA-87C1-EB29-F57FC09E81BB}"/>
              </a:ext>
            </a:extLst>
          </p:cNvPr>
          <p:cNvSpPr txBox="1"/>
          <p:nvPr/>
        </p:nvSpPr>
        <p:spPr>
          <a:xfrm>
            <a:off x="71098" y="-3175"/>
            <a:ext cx="6925129" cy="1569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800" b="1" noProof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4800" b="1" noProof="0">
                <a:solidFill>
                  <a:schemeClr val="bg1"/>
                </a:solidFill>
                <a:latin typeface="Aptos Black"/>
              </a:rPr>
              <a:t> en el Código </a:t>
            </a:r>
            <a:endParaRPr lang="es-CL" sz="4800" noProof="0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0A4B5CC-6B56-8204-2C75-6311DB0DD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511" y="-51273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E84DB61-14DE-EB67-0509-741A7666F38E}"/>
              </a:ext>
            </a:extLst>
          </p:cNvPr>
          <p:cNvSpPr txBox="1"/>
          <p:nvPr/>
        </p:nvSpPr>
        <p:spPr>
          <a:xfrm>
            <a:off x="3995737" y="1935969"/>
            <a:ext cx="419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Función lineal</a:t>
            </a:r>
            <a:r>
              <a:rPr lang="es-CL" sz="2400" noProof="0" dirty="0">
                <a:latin typeface="Aptos Black" panose="020B0004020202020204" pitchFamily="34" charset="0"/>
              </a:rPr>
              <a:t>​</a:t>
            </a:r>
            <a:br>
              <a:rPr lang="es-CL" sz="2400" noProof="0" dirty="0"/>
            </a:br>
            <a:endParaRPr lang="es-CL" sz="2400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1E31A9-9C38-8BFA-89F0-4A51A1C2AE01}"/>
              </a:ext>
            </a:extLst>
          </p:cNvPr>
          <p:cNvSpPr txBox="1"/>
          <p:nvPr/>
        </p:nvSpPr>
        <p:spPr>
          <a:xfrm>
            <a:off x="3369149" y="3645826"/>
            <a:ext cx="606330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600" noProof="0" dirty="0">
                <a:solidFill>
                  <a:schemeClr val="bg1"/>
                </a:solidFill>
                <a:latin typeface="Aptos Black"/>
              </a:rPr>
              <a:t>Función lineal </a:t>
            </a:r>
            <a:r>
              <a:rPr lang="es-CL" sz="3600">
                <a:solidFill>
                  <a:schemeClr val="bg1"/>
                </a:solidFill>
                <a:latin typeface="Aptos Black"/>
              </a:rPr>
              <a:t>código</a:t>
            </a:r>
            <a:r>
              <a:rPr lang="es-CL" sz="3600" noProof="0" dirty="0">
                <a:solidFill>
                  <a:schemeClr val="bg1"/>
                </a:solidFill>
                <a:latin typeface="Aptos Black"/>
              </a:rPr>
              <a:t> </a:t>
            </a:r>
            <a:r>
              <a:rPr lang="es-CL" sz="2400" noProof="0" dirty="0">
                <a:latin typeface="Aptos Black"/>
              </a:rPr>
              <a:t>​</a:t>
            </a:r>
            <a:br>
              <a:rPr lang="es-CL" sz="2400" noProof="0" dirty="0"/>
            </a:br>
            <a:endParaRPr lang="es-CL" sz="24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8B5930F-6267-5A17-F8E7-D3F2B707F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280" y="4461970"/>
            <a:ext cx="4505325" cy="2096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8F978B7-DA46-FCF2-38DC-07ED8DA75E21}"/>
                  </a:ext>
                </a:extLst>
              </p:cNvPr>
              <p:cNvSpPr txBox="1"/>
              <p:nvPr/>
            </p:nvSpPr>
            <p:spPr>
              <a:xfrm>
                <a:off x="1638235" y="2810264"/>
                <a:ext cx="89155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L" sz="40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8F978B7-DA46-FCF2-38DC-07ED8DA75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35" y="2810264"/>
                <a:ext cx="8915527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890D836-59EA-C638-D983-34A6159E9B60}"/>
              </a:ext>
            </a:extLst>
          </p:cNvPr>
          <p:cNvSpPr/>
          <p:nvPr/>
        </p:nvSpPr>
        <p:spPr>
          <a:xfrm>
            <a:off x="9535287" y="-630975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38C6F33A-BA1D-E19D-ADBF-326ED2E4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3E46916-BBC0-8914-E355-6D4C42DAC302}"/>
              </a:ext>
            </a:extLst>
          </p:cNvPr>
          <p:cNvSpPr txBox="1"/>
          <p:nvPr/>
        </p:nvSpPr>
        <p:spPr>
          <a:xfrm>
            <a:off x="309223" y="139700"/>
            <a:ext cx="688941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800" b="1" noProof="0" dirty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4800" b="1" noProof="0" dirty="0">
                <a:solidFill>
                  <a:schemeClr val="bg1"/>
                </a:solidFill>
                <a:latin typeface="Aptos Black"/>
              </a:rPr>
              <a:t> en el Código </a:t>
            </a:r>
            <a:endParaRPr lang="es-CL" sz="4800" noProof="0" dirty="0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6F341F-71C1-5712-AE11-718700077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854" y="-203172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CC3C9A5-6865-3A5E-F49C-282445DAE554}"/>
              </a:ext>
            </a:extLst>
          </p:cNvPr>
          <p:cNvSpPr txBox="1"/>
          <p:nvPr/>
        </p:nvSpPr>
        <p:spPr>
          <a:xfrm>
            <a:off x="181088" y="2146182"/>
            <a:ext cx="111252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¿Qué ocurre en el código para calcular el porcentaje de </a:t>
            </a:r>
            <a:r>
              <a:rPr lang="es-CL" sz="2400" i="1" noProof="0" dirty="0" err="1">
                <a:solidFill>
                  <a:schemeClr val="bg1"/>
                </a:solidFill>
                <a:latin typeface="Aptos Black"/>
              </a:rPr>
              <a:t>clicks</a:t>
            </a: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?​</a:t>
            </a:r>
            <a:br>
              <a:rPr lang="es-CL" sz="2400" noProof="0" dirty="0">
                <a:solidFill>
                  <a:schemeClr val="bg1"/>
                </a:solidFill>
              </a:rPr>
            </a:br>
            <a:endParaRPr lang="es-CL" sz="2400" noProof="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7B7901-DC13-B5C5-5B3D-940260213953}"/>
              </a:ext>
            </a:extLst>
          </p:cNvPr>
          <p:cNvSpPr txBox="1"/>
          <p:nvPr/>
        </p:nvSpPr>
        <p:spPr>
          <a:xfrm>
            <a:off x="5874657" y="2720630"/>
            <a:ext cx="6733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Se guardan en columnas binarias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DA8A3BC-FB04-A822-DBD5-637CA62E0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62" y="2825661"/>
            <a:ext cx="5723437" cy="32364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DF8708D-6FBF-98CD-77F5-F990724CD08E}"/>
              </a:ext>
            </a:extLst>
          </p:cNvPr>
          <p:cNvSpPr txBox="1"/>
          <p:nvPr/>
        </p:nvSpPr>
        <p:spPr>
          <a:xfrm>
            <a:off x="3886199" y="3282021"/>
            <a:ext cx="673308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sz="2800" noProof="0">
                <a:solidFill>
                  <a:schemeClr val="bg1"/>
                </a:solidFill>
                <a:latin typeface="Aptos Black"/>
              </a:rPr>
              <a:t>Ejemplo</a:t>
            </a:r>
            <a:r>
              <a:rPr lang="es-CL" sz="2800">
                <a:solidFill>
                  <a:schemeClr val="bg1"/>
                </a:solidFill>
                <a:latin typeface="Aptos Black"/>
              </a:rPr>
              <a:t>:</a:t>
            </a:r>
            <a:endParaRPr lang="es-CL" sz="28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5C05B2B-1F37-C886-E9AC-B72D9498FF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743" y="3843412"/>
            <a:ext cx="3771900" cy="251112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110A3C-DEA2-D72F-4C85-22EBEE9ECAFE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16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45F6-4F94-C909-773E-72F6561E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Imágenes de Fondo De Pizarra | Descarga imágenes gratuitas ...">
            <a:extLst>
              <a:ext uri="{FF2B5EF4-FFF2-40B4-BE49-F238E27FC236}">
                <a16:creationId xmlns:a16="http://schemas.microsoft.com/office/drawing/2014/main" id="{D8FF03D1-BDF8-3887-5FDA-4901A370A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8767"/>
            <a:ext cx="12191999" cy="749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27B0975-06C9-8057-9613-AD34D742A6F9}"/>
              </a:ext>
            </a:extLst>
          </p:cNvPr>
          <p:cNvSpPr txBox="1"/>
          <p:nvPr/>
        </p:nvSpPr>
        <p:spPr>
          <a:xfrm>
            <a:off x="190160" y="-3175"/>
            <a:ext cx="702037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800" b="1" noProof="0">
                <a:solidFill>
                  <a:schemeClr val="bg1"/>
                </a:solidFill>
                <a:latin typeface="Aptos Black"/>
              </a:rPr>
              <a:t>Nociones </a:t>
            </a:r>
            <a:r>
              <a:rPr lang="es-CL" sz="4800" b="1">
                <a:solidFill>
                  <a:schemeClr val="bg1"/>
                </a:solidFill>
                <a:latin typeface="Aptos Black"/>
              </a:rPr>
              <a:t>Matemáticas</a:t>
            </a:r>
            <a:r>
              <a:rPr lang="es-CL" sz="4800" b="1" noProof="0">
                <a:solidFill>
                  <a:schemeClr val="bg1"/>
                </a:solidFill>
                <a:latin typeface="Aptos Black"/>
              </a:rPr>
              <a:t> en el Código </a:t>
            </a:r>
            <a:endParaRPr lang="es-CL" sz="4800" noProof="0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7EC0D74-D1BF-2A76-AAD0-50ADBE96F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510" y="-51273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0F450E1-BE9B-8638-C51D-BF2E33662B00}"/>
              </a:ext>
            </a:extLst>
          </p:cNvPr>
          <p:cNvSpPr txBox="1"/>
          <p:nvPr/>
        </p:nvSpPr>
        <p:spPr>
          <a:xfrm>
            <a:off x="685800" y="2112389"/>
            <a:ext cx="419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Función sigmoide </a:t>
            </a:r>
            <a:r>
              <a:rPr lang="es-CL" sz="2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​</a:t>
            </a:r>
            <a:br>
              <a:rPr lang="es-CL" sz="2400" noProof="0" dirty="0">
                <a:solidFill>
                  <a:schemeClr val="bg1"/>
                </a:solidFill>
              </a:rPr>
            </a:br>
            <a:endParaRPr lang="es-CL" sz="2400" noProof="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BE077E9-5C83-6DB8-B488-5B05F2EB03F2}"/>
                  </a:ext>
                </a:extLst>
              </p:cNvPr>
              <p:cNvSpPr txBox="1"/>
              <p:nvPr/>
            </p:nvSpPr>
            <p:spPr>
              <a:xfrm>
                <a:off x="685799" y="2949417"/>
                <a:ext cx="3614098" cy="14976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400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40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L" sz="4000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40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4000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4000" b="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CL" sz="4000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L" sz="4000" i="1" noProof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L" sz="4000" b="0" i="1" noProof="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L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BE077E9-5C83-6DB8-B488-5B05F2EB0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2949417"/>
                <a:ext cx="3614098" cy="1497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FD23AD8F-B877-7580-1D46-C554C19858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867" y="3133948"/>
            <a:ext cx="6353083" cy="313028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9F43361-299F-D0A2-3638-4FD4B1B1E4CA}"/>
              </a:ext>
            </a:extLst>
          </p:cNvPr>
          <p:cNvSpPr txBox="1"/>
          <p:nvPr/>
        </p:nvSpPr>
        <p:spPr>
          <a:xfrm>
            <a:off x="5728648" y="2272498"/>
            <a:ext cx="606330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3600" noProof="0" dirty="0">
                <a:solidFill>
                  <a:schemeClr val="bg1"/>
                </a:solidFill>
                <a:latin typeface="Aptos Black"/>
              </a:rPr>
              <a:t>Función sigmoide </a:t>
            </a:r>
            <a:r>
              <a:rPr lang="es-CL" sz="3600">
                <a:solidFill>
                  <a:schemeClr val="bg1"/>
                </a:solidFill>
                <a:latin typeface="Aptos Black"/>
              </a:rPr>
              <a:t>código</a:t>
            </a:r>
            <a:r>
              <a:rPr lang="es-CL" sz="3600" noProof="0" dirty="0">
                <a:solidFill>
                  <a:schemeClr val="bg1"/>
                </a:solidFill>
                <a:latin typeface="Aptos Black"/>
              </a:rPr>
              <a:t> </a:t>
            </a:r>
            <a:r>
              <a:rPr lang="es-CL" sz="2400" noProof="0" dirty="0">
                <a:solidFill>
                  <a:schemeClr val="bg1"/>
                </a:solidFill>
                <a:latin typeface="Aptos Black"/>
              </a:rPr>
              <a:t>​</a:t>
            </a:r>
            <a:br>
              <a:rPr lang="es-CL" sz="2400" noProof="0" dirty="0">
                <a:solidFill>
                  <a:schemeClr val="bg1"/>
                </a:solidFill>
              </a:rPr>
            </a:br>
            <a:endParaRPr lang="es-CL" sz="2400" noProof="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98790F-B3B4-DFF4-82FF-66E12ABEB630}"/>
              </a:ext>
            </a:extLst>
          </p:cNvPr>
          <p:cNvSpPr/>
          <p:nvPr/>
        </p:nvSpPr>
        <p:spPr>
          <a:xfrm>
            <a:off x="9535287" y="-642882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0309-BF75-93AB-70E7-DEE851DB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BFA60CA-B110-03CA-2E43-27178D6F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96D423D-73EE-54B2-258E-1BB1D4850EFA}"/>
              </a:ext>
            </a:extLst>
          </p:cNvPr>
          <p:cNvSpPr txBox="1"/>
          <p:nvPr/>
        </p:nvSpPr>
        <p:spPr>
          <a:xfrm>
            <a:off x="1685925" y="273884"/>
            <a:ext cx="44129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Temas iniciales involucrados</a:t>
            </a:r>
            <a:r>
              <a:rPr lang="es-CL" sz="4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 </a:t>
            </a:r>
            <a:endParaRPr lang="es-CL" sz="4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FFE5F40-DEC4-6487-4796-3370C22D0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317" y="-302980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3D4C60-663B-0968-D18B-55211836BCD1}"/>
              </a:ext>
            </a:extLst>
          </p:cNvPr>
          <p:cNvSpPr txBox="1"/>
          <p:nvPr/>
        </p:nvSpPr>
        <p:spPr>
          <a:xfrm>
            <a:off x="840466" y="1908524"/>
            <a:ext cx="6096000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1" u="none" strike="noStrike" noProof="0" dirty="0">
                <a:solidFill>
                  <a:schemeClr val="bg1"/>
                </a:solidFill>
                <a:effectLst/>
                <a:latin typeface="Aptos"/>
              </a:rPr>
              <a:t>Machine Learning</a:t>
            </a: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/>
              </a:rPr>
              <a:t> básico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Regresión logística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Probabilidad y estadística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Cálculo diferencial (derivadas)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Programación en JavaScript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Desarrollo web (HTML + CSS)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Experiencia de usuario (UX/UI) </a:t>
            </a:r>
            <a:r>
              <a:rPr lang="es-CL" sz="3200" b="0" i="0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​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s-CL" sz="3200" b="0" i="0" u="none" strike="noStrike" noProof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Simulación de datos</a:t>
            </a:r>
            <a:endParaRPr lang="es-CL" sz="3200" b="0" i="0" noProof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Qué es Machine Learning? - Profesional Online">
            <a:extLst>
              <a:ext uri="{FF2B5EF4-FFF2-40B4-BE49-F238E27FC236}">
                <a16:creationId xmlns:a16="http://schemas.microsoft.com/office/drawing/2014/main" id="{3D3DC9B1-A3BA-850F-60BE-865C96335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876" y="2570471"/>
            <a:ext cx="3495945" cy="1746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La regresión logística - Analytics Lane">
            <a:extLst>
              <a:ext uri="{FF2B5EF4-FFF2-40B4-BE49-F238E27FC236}">
                <a16:creationId xmlns:a16="http://schemas.microsoft.com/office/drawing/2014/main" id="{17D5EC81-EC26-A479-E4F5-4F8A5EC08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5" y="4610180"/>
            <a:ext cx="3481388" cy="215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295FF4-BE0F-EDD9-5BE7-E2651B516C92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9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9" descr="A black surface with white marks">
            <a:extLst>
              <a:ext uri="{FF2B5EF4-FFF2-40B4-BE49-F238E27FC236}">
                <a16:creationId xmlns:a16="http://schemas.microsoft.com/office/drawing/2014/main" id="{555709D0-BBA7-4195-FDCB-9FC51B37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CuadroTexto 3">
            <a:extLst>
              <a:ext uri="{FF2B5EF4-FFF2-40B4-BE49-F238E27FC236}">
                <a16:creationId xmlns:a16="http://schemas.microsoft.com/office/drawing/2014/main" id="{B3E20F46-A354-4A0A-7E28-66D9EA309E55}"/>
              </a:ext>
            </a:extLst>
          </p:cNvPr>
          <p:cNvSpPr txBox="1"/>
          <p:nvPr/>
        </p:nvSpPr>
        <p:spPr>
          <a:xfrm>
            <a:off x="272512" y="290431"/>
            <a:ext cx="1130662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4400">
                <a:solidFill>
                  <a:schemeClr val="bg1"/>
                </a:solidFill>
                <a:latin typeface="Aptos Black"/>
              </a:rPr>
              <a:t>Materiales y Cronograma</a:t>
            </a:r>
            <a:endParaRPr lang="es-CL" sz="4400" b="1" noProof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9" name="CuadroTexto 2">
            <a:extLst>
              <a:ext uri="{FF2B5EF4-FFF2-40B4-BE49-F238E27FC236}">
                <a16:creationId xmlns:a16="http://schemas.microsoft.com/office/drawing/2014/main" id="{310033BD-AC49-C0EE-58BE-BFBDD6CB40BC}"/>
              </a:ext>
            </a:extLst>
          </p:cNvPr>
          <p:cNvSpPr txBox="1"/>
          <p:nvPr/>
        </p:nvSpPr>
        <p:spPr>
          <a:xfrm>
            <a:off x="265452" y="1062594"/>
            <a:ext cx="11660512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L" sz="3200">
                <a:solidFill>
                  <a:srgbClr val="FFFFFF"/>
                </a:solidFill>
                <a:latin typeface="Aptos"/>
              </a:rPr>
              <a:t>HTML: estructura </a:t>
            </a:r>
            <a:endParaRPr lang="en-US" sz="3200">
              <a:solidFill>
                <a:srgbClr val="000000"/>
              </a:solidFill>
              <a:latin typeface="Aptos"/>
            </a:endParaRPr>
          </a:p>
          <a:p>
            <a:r>
              <a:rPr lang="es-CL" sz="3200">
                <a:solidFill>
                  <a:srgbClr val="FFFFFF"/>
                </a:solidFill>
                <a:latin typeface="Aptos"/>
              </a:rPr>
              <a:t>CSS: diseño visual </a:t>
            </a:r>
            <a:endParaRPr lang="es-CL" sz="3200">
              <a:solidFill>
                <a:srgbClr val="000000"/>
              </a:solidFill>
              <a:latin typeface="Aptos"/>
            </a:endParaRPr>
          </a:p>
          <a:p>
            <a:r>
              <a:rPr lang="es-CL" sz="3200">
                <a:solidFill>
                  <a:srgbClr val="FFFFFF"/>
                </a:solidFill>
                <a:latin typeface="Aptos"/>
              </a:rPr>
              <a:t>JavaScript: lógica + modelo matemático </a:t>
            </a:r>
            <a:endParaRPr lang="es-CL" sz="3200">
              <a:solidFill>
                <a:srgbClr val="000000"/>
              </a:solidFill>
              <a:latin typeface="Aptos"/>
            </a:endParaRPr>
          </a:p>
          <a:p>
            <a:r>
              <a:rPr lang="es-CL" sz="3200">
                <a:solidFill>
                  <a:srgbClr val="FFFFFF"/>
                </a:solidFill>
                <a:latin typeface="Aptos"/>
              </a:rPr>
              <a:t>Navegador web: ejecución</a:t>
            </a:r>
            <a:endParaRPr lang="es-CL" sz="3200">
              <a:solidFill>
                <a:srgbClr val="000000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3200" dirty="0">
              <a:solidFill>
                <a:srgbClr val="FFFFFF"/>
              </a:solidFill>
              <a:latin typeface="Aptos"/>
            </a:endParaRPr>
          </a:p>
          <a:p>
            <a:r>
              <a:rPr lang="es-CL" sz="3200" b="1">
                <a:solidFill>
                  <a:srgbClr val="FFFFFF"/>
                </a:solidFill>
                <a:latin typeface="Aptos"/>
              </a:rPr>
              <a:t>Semana 1: </a:t>
            </a:r>
            <a:r>
              <a:rPr lang="es-CL" sz="3200">
                <a:solidFill>
                  <a:srgbClr val="FFFFFF"/>
                </a:solidFill>
                <a:latin typeface="Aptos"/>
              </a:rPr>
              <a:t>Investigación teórica (ML + derivadas) </a:t>
            </a:r>
            <a:endParaRPr lang="en-US" sz="3200"/>
          </a:p>
          <a:p>
            <a:r>
              <a:rPr lang="es-CL" sz="3200" b="1" dirty="0">
                <a:solidFill>
                  <a:srgbClr val="FFFFFF"/>
                </a:solidFill>
                <a:latin typeface="Aptos"/>
              </a:rPr>
              <a:t>Semana 2: </a:t>
            </a:r>
            <a:r>
              <a:rPr lang="es-CL" sz="3200" dirty="0">
                <a:solidFill>
                  <a:srgbClr val="FFFFFF"/>
                </a:solidFill>
                <a:latin typeface="Aptos"/>
              </a:rPr>
              <a:t>Programación del </a:t>
            </a:r>
            <a:r>
              <a:rPr lang="es-CL" sz="3200" i="1" dirty="0" err="1">
                <a:solidFill>
                  <a:srgbClr val="FFFFFF"/>
                </a:solidFill>
                <a:latin typeface="Aptos"/>
              </a:rPr>
              <a:t>Backend</a:t>
            </a:r>
            <a:r>
              <a:rPr lang="es-CL" sz="3200" i="1" dirty="0">
                <a:solidFill>
                  <a:srgbClr val="FFFFFF"/>
                </a:solidFill>
                <a:latin typeface="Aptos"/>
              </a:rPr>
              <a:t>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CL" sz="3200">
                <a:solidFill>
                  <a:srgbClr val="FFFFFF"/>
                </a:solidFill>
                <a:latin typeface="Aptos"/>
              </a:rPr>
              <a:t>Lógica matemática </a:t>
            </a:r>
            <a:endParaRPr lang="es-CL" sz="3200" dirty="0">
              <a:solidFill>
                <a:srgbClr val="FFFFFF"/>
              </a:solidFill>
              <a:latin typeface="Aptos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CL" sz="3200">
                <a:solidFill>
                  <a:srgbClr val="FFFFFF"/>
                </a:solidFill>
                <a:latin typeface="Aptos"/>
              </a:rPr>
              <a:t>Calibración de los resultados</a:t>
            </a:r>
            <a:endParaRPr lang="es-CL" sz="3200" dirty="0">
              <a:solidFill>
                <a:srgbClr val="FFFFFF"/>
              </a:solidFill>
              <a:latin typeface="Aptos"/>
            </a:endParaRPr>
          </a:p>
          <a:p>
            <a:r>
              <a:rPr lang="es-CL" sz="3200" b="1">
                <a:solidFill>
                  <a:srgbClr val="FFFFFF"/>
                </a:solidFill>
                <a:latin typeface="Aptos"/>
              </a:rPr>
              <a:t>Semana 2:</a:t>
            </a:r>
            <a:r>
              <a:rPr lang="es-CL" sz="3200">
                <a:solidFill>
                  <a:srgbClr val="FFFFFF"/>
                </a:solidFill>
                <a:latin typeface="Aptos"/>
              </a:rPr>
              <a:t> Desarrollo de interfaz (HTML/CSS) </a:t>
            </a:r>
            <a:endParaRPr lang="es-CL" sz="3200" dirty="0">
              <a:solidFill>
                <a:srgbClr val="FFFFFF"/>
              </a:solidFill>
              <a:latin typeface="Aptos"/>
            </a:endParaRPr>
          </a:p>
          <a:p>
            <a:r>
              <a:rPr lang="es-CL" sz="3200" b="1">
                <a:solidFill>
                  <a:srgbClr val="FFFFFF"/>
                </a:solidFill>
                <a:latin typeface="Aptos"/>
              </a:rPr>
              <a:t>Semana 3: </a:t>
            </a:r>
            <a:r>
              <a:rPr lang="es-CL" sz="3200">
                <a:solidFill>
                  <a:srgbClr val="FFFFFF"/>
                </a:solidFill>
                <a:latin typeface="Aptos"/>
              </a:rPr>
              <a:t>Redacción de resultados y presentación </a:t>
            </a:r>
            <a:endParaRPr lang="es-CL" sz="3200" dirty="0">
              <a:solidFill>
                <a:srgbClr val="FFFFFF"/>
              </a:solidFill>
              <a:latin typeface="Aptos"/>
            </a:endParaRPr>
          </a:p>
          <a:p>
            <a:pPr marL="457200" indent="-457200">
              <a:buFont typeface="Arial"/>
              <a:buChar char="•"/>
            </a:pPr>
            <a:endParaRPr lang="es-CL" sz="2800"/>
          </a:p>
        </p:txBody>
      </p:sp>
      <p:pic>
        <p:nvPicPr>
          <p:cNvPr id="11" name="Picture 2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E78187AF-522E-F060-E5B5-3ADCF40D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360" y="-229395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BE766B-C786-6838-E648-330C315407AB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2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EE47-B0D1-7E6D-6F76-DB24E5E3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729B024-A3BE-EAE3-CA3F-7AAF62E54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C462B2B-D97B-5396-572A-DE5668D45FEA}"/>
              </a:ext>
            </a:extLst>
          </p:cNvPr>
          <p:cNvSpPr txBox="1"/>
          <p:nvPr/>
        </p:nvSpPr>
        <p:spPr>
          <a:xfrm>
            <a:off x="9525" y="297619"/>
            <a:ext cx="7943849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L" sz="4400" noProof="0" dirty="0">
                <a:solidFill>
                  <a:schemeClr val="bg1"/>
                </a:solidFill>
                <a:latin typeface="Aptos Black"/>
              </a:rPr>
              <a:t>Necesidad de incorporación de herramientas </a:t>
            </a:r>
            <a:r>
              <a:rPr lang="es-CL" sz="4400" noProof="0">
                <a:solidFill>
                  <a:schemeClr val="bg1"/>
                </a:solidFill>
                <a:latin typeface="Aptos Black"/>
              </a:rPr>
              <a:t>tecnológicas</a:t>
            </a:r>
            <a:endParaRPr lang="en-US">
              <a:solidFill>
                <a:schemeClr val="bg1"/>
              </a:solidFill>
              <a:latin typeface="Aptos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8BFFAB-0C6D-DB88-D9B3-335319F24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429" y="-16563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754EE7-5227-4867-BAC7-B35F0FE13142}"/>
              </a:ext>
            </a:extLst>
          </p:cNvPr>
          <p:cNvSpPr txBox="1"/>
          <p:nvPr/>
        </p:nvSpPr>
        <p:spPr>
          <a:xfrm>
            <a:off x="171451" y="2693084"/>
            <a:ext cx="57149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Permiten: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Simular escenarios complejos rápidamente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Visualizar resultados en tiempo real 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Automatizar cálculos matemáticos complejos 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L" sz="2000" noProof="0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87E7D9-7160-D071-3894-0A3C387C79D7}"/>
              </a:ext>
            </a:extLst>
          </p:cNvPr>
          <p:cNvSpPr txBox="1"/>
          <p:nvPr/>
        </p:nvSpPr>
        <p:spPr>
          <a:xfrm>
            <a:off x="5924551" y="2763519"/>
            <a:ext cx="6095998" cy="26161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800">
                <a:solidFill>
                  <a:schemeClr val="bg1"/>
                </a:solidFill>
                <a:latin typeface="Aptos Black"/>
              </a:rPr>
              <a:t>Justificación</a:t>
            </a:r>
            <a:r>
              <a:rPr lang="es-CL" sz="2800" noProof="0" dirty="0">
                <a:solidFill>
                  <a:schemeClr val="bg1"/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JavaScript permite integrar: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Matemáticas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Lógica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000" noProof="0" dirty="0">
                <a:solidFill>
                  <a:schemeClr val="bg1"/>
                </a:solidFill>
              </a:rPr>
              <a:t>Interfaz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000" noProof="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bg1"/>
                </a:solidFill>
              </a:rPr>
              <a:t>HTML/CSS facilitan la interacción con el usuario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bg1"/>
                </a:solidFill>
              </a:rPr>
              <a:t>Sin estas herramientas, el modelo sería solo teórico</a:t>
            </a:r>
            <a:endParaRPr lang="es-CL" sz="2800" noProof="0" dirty="0">
              <a:solidFill>
                <a:schemeClr val="bg1"/>
              </a:solidFill>
            </a:endParaRPr>
          </a:p>
        </p:txBody>
      </p:sp>
      <p:pic>
        <p:nvPicPr>
          <p:cNvPr id="8194" name="Picture 2" descr="HTML5 - Wikipedia, la enciclopedia libre">
            <a:extLst>
              <a:ext uri="{FF2B5EF4-FFF2-40B4-BE49-F238E27FC236}">
                <a16:creationId xmlns:a16="http://schemas.microsoft.com/office/drawing/2014/main" id="{64790E2A-2F30-510E-78BD-5D8D44941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4508142"/>
            <a:ext cx="1815058" cy="181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ntroducción CSS | Manual Web">
            <a:extLst>
              <a:ext uri="{FF2B5EF4-FFF2-40B4-BE49-F238E27FC236}">
                <a16:creationId xmlns:a16="http://schemas.microsoft.com/office/drawing/2014/main" id="{6D8AC1A5-03FF-15AC-F31A-89DD2455F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4508142"/>
            <a:ext cx="1815058" cy="181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2" descr="Javascript Logo 10 PNG Images - CleanPNG">
            <a:extLst>
              <a:ext uri="{FF2B5EF4-FFF2-40B4-BE49-F238E27FC236}">
                <a16:creationId xmlns:a16="http://schemas.microsoft.com/office/drawing/2014/main" id="{06C504AB-272A-5C26-E716-4CE1D6D04A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14" name="AutoShape 16" descr="Javascript Logo 10 PNG Images - CleanPNG">
            <a:extLst>
              <a:ext uri="{FF2B5EF4-FFF2-40B4-BE49-F238E27FC236}">
                <a16:creationId xmlns:a16="http://schemas.microsoft.com/office/drawing/2014/main" id="{4AEB5D56-53E8-2511-C75E-DAF829A3A0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715748" y="2558170"/>
            <a:ext cx="3162301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23145-D620-4512-853C-32A330AF0912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10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B119-DE1E-6CCB-2825-D2E472E7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DF26F4E-63B1-7A97-0063-0E698154D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72231EA-0EA6-7A38-5A9C-543C6FD4EDA2}"/>
              </a:ext>
            </a:extLst>
          </p:cNvPr>
          <p:cNvSpPr txBox="1"/>
          <p:nvPr/>
        </p:nvSpPr>
        <p:spPr>
          <a:xfrm>
            <a:off x="138113" y="285790"/>
            <a:ext cx="7143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Objetivo y preguntas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37A11D0-326D-3BCB-9A7E-698364100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355" y="-171450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D0D817A-0E3F-205B-DA93-28A9E6AD6630}"/>
              </a:ext>
            </a:extLst>
          </p:cNvPr>
          <p:cNvSpPr txBox="1"/>
          <p:nvPr/>
        </p:nvSpPr>
        <p:spPr>
          <a:xfrm>
            <a:off x="140494" y="1653244"/>
            <a:ext cx="815816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800" b="1" noProof="0">
                <a:solidFill>
                  <a:schemeClr val="bg1"/>
                </a:solidFill>
                <a:latin typeface="Aptos Black"/>
              </a:rPr>
              <a:t>Objetivo General:</a:t>
            </a:r>
            <a:r>
              <a:rPr lang="es-CL" sz="2800" noProof="0" dirty="0">
                <a:solidFill>
                  <a:schemeClr val="bg1"/>
                </a:solidFill>
                <a:latin typeface="Aptos Black"/>
              </a:rPr>
              <a:t> </a:t>
            </a:r>
            <a:endParaRPr lang="en-US" dirty="0">
              <a:solidFill>
                <a:schemeClr val="bg1"/>
              </a:solidFill>
              <a:latin typeface="Aptos Black"/>
            </a:endParaRPr>
          </a:p>
          <a:p>
            <a:r>
              <a:rPr lang="es-CL" sz="2800" noProof="0">
                <a:solidFill>
                  <a:schemeClr val="bg1"/>
                </a:solidFill>
              </a:rPr>
              <a:t>Predecir probabilidad de </a:t>
            </a:r>
            <a:r>
              <a:rPr lang="es-CL" sz="2800" b="1" noProof="0">
                <a:solidFill>
                  <a:schemeClr val="bg1"/>
                </a:solidFill>
              </a:rPr>
              <a:t>conversión</a:t>
            </a:r>
            <a:r>
              <a:rPr lang="es-CL" sz="2800" noProof="0">
                <a:solidFill>
                  <a:schemeClr val="bg1"/>
                </a:solidFill>
              </a:rPr>
              <a:t> de un usuario.</a:t>
            </a:r>
            <a:endParaRPr lang="es-CL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EFBB0E-6771-D0A7-C1B8-47AA1A78F285}"/>
              </a:ext>
            </a:extLst>
          </p:cNvPr>
          <p:cNvSpPr txBox="1"/>
          <p:nvPr/>
        </p:nvSpPr>
        <p:spPr>
          <a:xfrm>
            <a:off x="1057275" y="2846232"/>
            <a:ext cx="3562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Preguntas claves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558E8B-DA29-607F-4AA1-C1543D796540}"/>
              </a:ext>
            </a:extLst>
          </p:cNvPr>
          <p:cNvSpPr txBox="1"/>
          <p:nvPr/>
        </p:nvSpPr>
        <p:spPr>
          <a:xfrm>
            <a:off x="133350" y="3635718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chemeClr val="bg1"/>
                </a:solidFill>
              </a:rPr>
              <a:t>¿Cómo modelar decisiones humanas mediante funciones matemáticas? 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991DE4-578F-0AFA-6848-513175CF0956}"/>
              </a:ext>
            </a:extLst>
          </p:cNvPr>
          <p:cNvSpPr txBox="1"/>
          <p:nvPr/>
        </p:nvSpPr>
        <p:spPr>
          <a:xfrm>
            <a:off x="135731" y="4598951"/>
            <a:ext cx="52578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noProof="0">
                <a:solidFill>
                  <a:schemeClr val="bg1"/>
                </a:solidFill>
              </a:rPr>
              <a:t>¿Qué variables afectan más la </a:t>
            </a:r>
            <a:endParaRPr lang="en-US">
              <a:solidFill>
                <a:schemeClr val="bg1"/>
              </a:solidFill>
            </a:endParaRPr>
          </a:p>
          <a:p>
            <a:r>
              <a:rPr lang="es-CL" sz="2400" noProof="0">
                <a:solidFill>
                  <a:schemeClr val="bg1"/>
                </a:solidFill>
              </a:rPr>
              <a:t>conversión? </a:t>
            </a:r>
            <a:endParaRPr lang="es-CL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F13C7A-1042-E6BD-F2D1-9887A611EE97}"/>
              </a:ext>
            </a:extLst>
          </p:cNvPr>
          <p:cNvSpPr txBox="1"/>
          <p:nvPr/>
        </p:nvSpPr>
        <p:spPr>
          <a:xfrm>
            <a:off x="5715000" y="4821003"/>
            <a:ext cx="633174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s-CL" noProof="0">
                <a:solidFill>
                  <a:schemeClr val="bg1"/>
                </a:solidFill>
              </a:rPr>
              <a:t>¿</a:t>
            </a:r>
            <a:r>
              <a:rPr lang="es-CL" sz="2400" noProof="0">
                <a:solidFill>
                  <a:schemeClr val="bg1"/>
                </a:solidFill>
              </a:rPr>
              <a:t>Cómo influyen los límites en la interpretación</a:t>
            </a:r>
            <a:endParaRPr lang="en-US">
              <a:solidFill>
                <a:schemeClr val="bg1"/>
              </a:solidFill>
            </a:endParaRPr>
          </a:p>
          <a:p>
            <a:r>
              <a:rPr lang="es-CL" sz="2400" noProof="0">
                <a:solidFill>
                  <a:schemeClr val="bg1"/>
                </a:solidFill>
              </a:rPr>
              <a:t>de probabilidades? </a:t>
            </a:r>
            <a:r>
              <a:rPr lang="es-CL" noProof="0">
                <a:solidFill>
                  <a:schemeClr val="bg1"/>
                </a:solidFill>
              </a:rPr>
              <a:t>​</a:t>
            </a:r>
            <a:endParaRPr lang="es-CL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08F000-9BC2-3D07-1DF8-89096557FF1D}"/>
              </a:ext>
            </a:extLst>
          </p:cNvPr>
          <p:cNvSpPr txBox="1"/>
          <p:nvPr/>
        </p:nvSpPr>
        <p:spPr>
          <a:xfrm>
            <a:off x="133350" y="5650814"/>
            <a:ext cx="540305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s-CL" sz="2400" noProof="0">
                <a:solidFill>
                  <a:schemeClr val="bg1"/>
                </a:solidFill>
              </a:rPr>
              <a:t>¿Cómo optimizar un modelo usando </a:t>
            </a:r>
            <a:endParaRPr lang="en-US">
              <a:solidFill>
                <a:schemeClr val="bg1"/>
              </a:solidFill>
            </a:endParaRPr>
          </a:p>
          <a:p>
            <a:r>
              <a:rPr lang="es-CL" sz="2400" noProof="0">
                <a:solidFill>
                  <a:schemeClr val="bg1"/>
                </a:solidFill>
              </a:rPr>
              <a:t>derivadas?</a:t>
            </a:r>
            <a:r>
              <a:rPr lang="es-CL" noProof="0">
                <a:solidFill>
                  <a:schemeClr val="bg1"/>
                </a:solidFill>
              </a:rPr>
              <a:t>​</a:t>
            </a:r>
            <a:endParaRPr lang="es-CL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091F61-B004-23CA-81F1-1D8A3748C1CC}"/>
              </a:ext>
            </a:extLst>
          </p:cNvPr>
          <p:cNvSpPr txBox="1"/>
          <p:nvPr/>
        </p:nvSpPr>
        <p:spPr>
          <a:xfrm>
            <a:off x="5717381" y="5868337"/>
            <a:ext cx="634365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s-CL" sz="2400" noProof="0">
                <a:solidFill>
                  <a:schemeClr val="bg1"/>
                </a:solidFill>
              </a:rPr>
              <a:t>¿Por qué es importante la continuidad </a:t>
            </a:r>
            <a:r>
              <a:rPr lang="es-CL" sz="2400">
                <a:solidFill>
                  <a:schemeClr val="bg1"/>
                </a:solidFill>
              </a:rPr>
              <a:t>en</a:t>
            </a:r>
            <a:endParaRPr lang="en-US"/>
          </a:p>
          <a:p>
            <a:r>
              <a:rPr lang="es-CL" sz="2400">
                <a:solidFill>
                  <a:schemeClr val="bg1"/>
                </a:solidFill>
              </a:rPr>
              <a:t>modelos</a:t>
            </a:r>
            <a:r>
              <a:rPr lang="es-CL" sz="2400" noProof="0">
                <a:solidFill>
                  <a:schemeClr val="bg1"/>
                </a:solidFill>
              </a:rPr>
              <a:t> predictivos?  ​</a:t>
            </a:r>
            <a:endParaRPr lang="es-CL">
              <a:solidFill>
                <a:schemeClr val="bg1"/>
              </a:solidFill>
            </a:endParaRPr>
          </a:p>
        </p:txBody>
      </p:sp>
      <p:pic>
        <p:nvPicPr>
          <p:cNvPr id="7176" name="Picture 8" descr="Conoces el origen del signo de interrogación?">
            <a:extLst>
              <a:ext uri="{FF2B5EF4-FFF2-40B4-BE49-F238E27FC236}">
                <a16:creationId xmlns:a16="http://schemas.microsoft.com/office/drawing/2014/main" id="{EA05D7E1-1B3B-F777-2D23-CCBE82EC6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352" y="2965559"/>
            <a:ext cx="2690106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AB4271-22EA-DECE-2618-479E980468A6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6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16D2-22F2-A54B-5CD8-F7AE5454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A93381D-F57C-4352-3C67-67B45140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1C3A090-F4F2-7AB7-F5FE-89181FBCC44C}"/>
              </a:ext>
            </a:extLst>
          </p:cNvPr>
          <p:cNvSpPr txBox="1"/>
          <p:nvPr/>
        </p:nvSpPr>
        <p:spPr>
          <a:xfrm>
            <a:off x="533401" y="738150"/>
            <a:ext cx="7943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4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Preguntas respondidas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C621B7-5B93-3DC1-854E-0202C4AA6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617" y="-16563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2" descr="Javascript Logo 10 PNG Images - CleanPNG">
            <a:extLst>
              <a:ext uri="{FF2B5EF4-FFF2-40B4-BE49-F238E27FC236}">
                <a16:creationId xmlns:a16="http://schemas.microsoft.com/office/drawing/2014/main" id="{44C4F48A-2F63-63BB-A78C-6EB296BBC1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3F671AB-AB85-3B2E-33AD-6F54C9986287}"/>
              </a:ext>
            </a:extLst>
          </p:cNvPr>
          <p:cNvSpPr txBox="1"/>
          <p:nvPr/>
        </p:nvSpPr>
        <p:spPr>
          <a:xfrm>
            <a:off x="290514" y="2328723"/>
            <a:ext cx="925829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800" b="1" noProof="0">
                <a:solidFill>
                  <a:schemeClr val="bg1"/>
                </a:solidFill>
              </a:rPr>
              <a:t>¿Cómo modelar decisiones humanas mediante </a:t>
            </a:r>
            <a:endParaRPr lang="en-US">
              <a:solidFill>
                <a:schemeClr val="bg1"/>
              </a:solidFill>
            </a:endParaRPr>
          </a:p>
          <a:p>
            <a:r>
              <a:rPr lang="es-CL" sz="2800" b="1" noProof="0">
                <a:solidFill>
                  <a:schemeClr val="bg1"/>
                </a:solidFill>
              </a:rPr>
              <a:t>funciones matemáticas? </a:t>
            </a:r>
            <a:r>
              <a:rPr lang="es-CL" sz="2800" noProof="0">
                <a:solidFill>
                  <a:schemeClr val="bg1"/>
                </a:solidFill>
              </a:rPr>
              <a:t>​</a:t>
            </a:r>
            <a:endParaRPr lang="es-CL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B9927ED-F383-BB18-3128-76FCE3B0CD4C}"/>
              </a:ext>
            </a:extLst>
          </p:cNvPr>
          <p:cNvSpPr txBox="1"/>
          <p:nvPr/>
        </p:nvSpPr>
        <p:spPr>
          <a:xfrm>
            <a:off x="526259" y="3279880"/>
            <a:ext cx="11789567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s-CL" noProof="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s-CL" sz="2400" noProof="0">
                <a:solidFill>
                  <a:schemeClr val="bg1"/>
                </a:solidFill>
              </a:rPr>
              <a:t>Decisiones se pueden modelar usando funciones probabilísticas, especialmente </a:t>
            </a:r>
            <a:endParaRPr lang="es-CL" sz="2400" dirty="0">
              <a:solidFill>
                <a:schemeClr val="bg1"/>
              </a:solidFill>
            </a:endParaRPr>
          </a:p>
          <a:p>
            <a:r>
              <a:rPr lang="es-CL" sz="2400">
                <a:solidFill>
                  <a:schemeClr val="bg1"/>
                </a:solidFill>
              </a:rPr>
              <a:t>funciones logísticas...</a:t>
            </a:r>
          </a:p>
          <a:p>
            <a:endParaRPr lang="es-CL" noProof="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14FEBC-A341-4745-84E2-DCD31828F61A}"/>
              </a:ext>
            </a:extLst>
          </p:cNvPr>
          <p:cNvSpPr txBox="1"/>
          <p:nvPr/>
        </p:nvSpPr>
        <p:spPr>
          <a:xfrm>
            <a:off x="695327" y="5509571"/>
            <a:ext cx="1162049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2400" noProof="0" dirty="0">
                <a:solidFill>
                  <a:schemeClr val="bg1"/>
                </a:solidFill>
              </a:rPr>
              <a:t>Las variables más influyentes suelen ser precio, confianza, experiencia de usuario, </a:t>
            </a:r>
            <a:r>
              <a:rPr lang="es-CL" sz="2400" noProof="0">
                <a:solidFill>
                  <a:schemeClr val="bg1"/>
                </a:solidFill>
              </a:rPr>
              <a:t>urgencia y personalización</a:t>
            </a:r>
            <a:r>
              <a:rPr lang="es-CL" sz="2400">
                <a:solidFill>
                  <a:schemeClr val="bg1"/>
                </a:solidFill>
              </a:rPr>
              <a:t>...</a:t>
            </a:r>
            <a:endParaRPr lang="es-CL" sz="2400" noProof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7ADEF-451C-4B79-233B-EB36F3F1BDF8}"/>
              </a:ext>
            </a:extLst>
          </p:cNvPr>
          <p:cNvSpPr txBox="1"/>
          <p:nvPr/>
        </p:nvSpPr>
        <p:spPr>
          <a:xfrm>
            <a:off x="285750" y="4845844"/>
            <a:ext cx="1004887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 i="0" u="none" strike="noStrike" baseline="0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 variables </a:t>
            </a:r>
            <a:r>
              <a:rPr lang="en-US" sz="2800" b="1" dirty="0" err="1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afectan</a:t>
            </a:r>
            <a:r>
              <a:rPr lang="en-US" sz="2800" b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 </a:t>
            </a:r>
            <a:r>
              <a:rPr lang="en-US" sz="2800" b="1" dirty="0" err="1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más</a:t>
            </a:r>
            <a:r>
              <a:rPr lang="en-US" sz="2800" b="1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 la </a:t>
            </a:r>
            <a:r>
              <a:rPr lang="en-US" sz="2800" b="1" dirty="0" err="1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conversión</a:t>
            </a:r>
            <a:r>
              <a:rPr lang="en-US" sz="2800" b="1" i="0" u="none" strike="noStrike" baseline="0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? 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096BA-146B-3297-7567-932EF05EF93A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72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4BE5-E976-332B-9737-830327A9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D6AE3EE-B19E-2D84-D642-D45510CA8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9ECCDB9-FDA2-A3BC-DA14-112C13F7BE8E}"/>
              </a:ext>
            </a:extLst>
          </p:cNvPr>
          <p:cNvSpPr txBox="1"/>
          <p:nvPr/>
        </p:nvSpPr>
        <p:spPr>
          <a:xfrm>
            <a:off x="533401" y="416681"/>
            <a:ext cx="7943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4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Preguntas respondidas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A5C7FD0-F4C8-BFE2-863D-DA2B5C8A4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679" y="-16563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2" descr="Javascript Logo 10 PNG Images - CleanPNG">
            <a:extLst>
              <a:ext uri="{FF2B5EF4-FFF2-40B4-BE49-F238E27FC236}">
                <a16:creationId xmlns:a16="http://schemas.microsoft.com/office/drawing/2014/main" id="{B7D4854F-58B8-8E19-89BE-4C518E38EA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041BDF5-180B-6D15-C0B5-B1C29F613D79}"/>
              </a:ext>
            </a:extLst>
          </p:cNvPr>
          <p:cNvSpPr txBox="1"/>
          <p:nvPr/>
        </p:nvSpPr>
        <p:spPr>
          <a:xfrm>
            <a:off x="147639" y="2162037"/>
            <a:ext cx="1047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sz="28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¿Cómo optimizar un modelo usando derivadas?​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91813E-8BE1-2465-766B-D917E3BA5F8A}"/>
              </a:ext>
            </a:extLst>
          </p:cNvPr>
          <p:cNvSpPr txBox="1"/>
          <p:nvPr/>
        </p:nvSpPr>
        <p:spPr>
          <a:xfrm>
            <a:off x="609603" y="2815537"/>
            <a:ext cx="115871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fontAlgn="base"/>
            <a:r>
              <a:rPr lang="es-CL" sz="2400" noProof="0">
                <a:solidFill>
                  <a:schemeClr val="bg1"/>
                </a:solidFill>
              </a:rPr>
              <a:t>Las derivadas permiten encontrar máximos y mínimos de una función</a:t>
            </a:r>
            <a:r>
              <a:rPr lang="es-CL" sz="2400">
                <a:solidFill>
                  <a:schemeClr val="bg1"/>
                </a:solidFill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56302-20F1-E8FC-02AA-AB6A0DC36DC6}"/>
              </a:ext>
            </a:extLst>
          </p:cNvPr>
          <p:cNvSpPr txBox="1"/>
          <p:nvPr/>
        </p:nvSpPr>
        <p:spPr>
          <a:xfrm>
            <a:off x="297656" y="3583782"/>
            <a:ext cx="1159668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2800" b="1" i="0" u="none" strike="noStrike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¿Cómo influyen los límites en la </a:t>
            </a:r>
            <a:r>
              <a:rPr lang="es-CL" sz="2800" b="1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interpretación de</a:t>
            </a:r>
            <a:r>
              <a:rPr lang="es-CL" sz="2800" b="1" i="0" u="none" strike="noStrike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 probabilidades? ​</a:t>
            </a:r>
            <a:endParaRPr lang="en-US" sz="2800" b="1" i="0" u="none" strike="noStrike" baseline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0DFE4698-0CAC-2B97-5C20-2A7D52985747}"/>
              </a:ext>
            </a:extLst>
          </p:cNvPr>
          <p:cNvSpPr txBox="1"/>
          <p:nvPr/>
        </p:nvSpPr>
        <p:spPr>
          <a:xfrm>
            <a:off x="538165" y="4291912"/>
            <a:ext cx="1158716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 sz="2400">
                <a:solidFill>
                  <a:srgbClr val="FFFFFF"/>
                </a:solidFill>
              </a:rPr>
              <a:t>Los límites </a:t>
            </a:r>
            <a:r>
              <a:rPr lang="es-CL" sz="2400" noProof="0">
                <a:solidFill>
                  <a:srgbClr val="FFFFFF"/>
                </a:solidFill>
              </a:rPr>
              <a:t>permiten </a:t>
            </a:r>
            <a:r>
              <a:rPr lang="es-CL" sz="2400">
                <a:solidFill>
                  <a:srgbClr val="FFFFFF"/>
                </a:solidFill>
              </a:rPr>
              <a:t>entender el comportamiento extremo </a:t>
            </a:r>
            <a:r>
              <a:rPr lang="es-CL" sz="2400" noProof="0">
                <a:solidFill>
                  <a:srgbClr val="FFFFFF"/>
                </a:solidFill>
              </a:rPr>
              <a:t>de</a:t>
            </a:r>
            <a:r>
              <a:rPr lang="es-CL" sz="2400">
                <a:solidFill>
                  <a:srgbClr val="FFFFFF"/>
                </a:solidFill>
              </a:rPr>
              <a:t> un modelo...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0893D-0FEE-EF7C-6CC2-96BE817370A4}"/>
              </a:ext>
            </a:extLst>
          </p:cNvPr>
          <p:cNvSpPr txBox="1"/>
          <p:nvPr/>
        </p:nvSpPr>
        <p:spPr>
          <a:xfrm>
            <a:off x="142875" y="5012531"/>
            <a:ext cx="1083468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L" sz="2800" b="1" i="0" u="none" strike="noStrike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¿Por qué es importante la continuidad </a:t>
            </a:r>
            <a:r>
              <a:rPr lang="es-CL" sz="2800" b="1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en modelos</a:t>
            </a:r>
            <a:r>
              <a:rPr lang="es-CL" sz="2800" b="1" i="0" u="none" strike="noStrike" baseline="0">
                <a:solidFill>
                  <a:srgbClr val="FFFFFF"/>
                </a:solidFill>
                <a:latin typeface="Aptos"/>
                <a:ea typeface="Segoe UI"/>
                <a:cs typeface="Segoe UI"/>
              </a:rPr>
              <a:t> predictivos?  ​</a:t>
            </a:r>
            <a:endParaRPr lang="en-US" sz="2800" b="1" i="0" u="none" strike="noStrike" baseline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8" name="CuadroTexto 10">
            <a:extLst>
              <a:ext uri="{FF2B5EF4-FFF2-40B4-BE49-F238E27FC236}">
                <a16:creationId xmlns:a16="http://schemas.microsoft.com/office/drawing/2014/main" id="{1379277F-42F2-1D4C-CCED-8A33454F6F64}"/>
              </a:ext>
            </a:extLst>
          </p:cNvPr>
          <p:cNvSpPr txBox="1"/>
          <p:nvPr/>
        </p:nvSpPr>
        <p:spPr>
          <a:xfrm>
            <a:off x="538164" y="5815912"/>
            <a:ext cx="1158716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 sz="2400" dirty="0">
                <a:solidFill>
                  <a:srgbClr val="FFFFFF"/>
                </a:solidFill>
              </a:rPr>
              <a:t>La </a:t>
            </a:r>
            <a:r>
              <a:rPr lang="es-CL" sz="2400" err="1">
                <a:solidFill>
                  <a:srgbClr val="FFFFFF"/>
                </a:solidFill>
              </a:rPr>
              <a:t>continuidad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asegura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que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pequeños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cambios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noProof="0" err="1">
                <a:solidFill>
                  <a:srgbClr val="FFFFFF"/>
                </a:solidFill>
              </a:rPr>
              <a:t>en</a:t>
            </a:r>
            <a:r>
              <a:rPr lang="es-CL" sz="2400" noProof="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los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datos</a:t>
            </a:r>
            <a:r>
              <a:rPr lang="es-CL" sz="2400" dirty="0">
                <a:solidFill>
                  <a:srgbClr val="FFFFFF"/>
                </a:solidFill>
              </a:rPr>
              <a:t> de entrada no </a:t>
            </a:r>
            <a:r>
              <a:rPr lang="es-CL" sz="2400" err="1">
                <a:solidFill>
                  <a:srgbClr val="FFFFFF"/>
                </a:solidFill>
              </a:rPr>
              <a:t>generen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cambios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bruscos</a:t>
            </a:r>
            <a:r>
              <a:rPr lang="es-CL" sz="2400" dirty="0">
                <a:solidFill>
                  <a:srgbClr val="FFFFFF"/>
                </a:solidFill>
              </a:rPr>
              <a:t> </a:t>
            </a:r>
            <a:r>
              <a:rPr lang="es-CL" sz="2400" err="1">
                <a:solidFill>
                  <a:srgbClr val="FFFFFF"/>
                </a:solidFill>
              </a:rPr>
              <a:t>en</a:t>
            </a:r>
            <a:r>
              <a:rPr lang="es-CL" sz="2400">
                <a:solidFill>
                  <a:srgbClr val="FFFFFF"/>
                </a:solidFill>
              </a:rPr>
              <a:t> la predicción...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054CDE-A4C9-B608-AB86-EFEFFF5865F4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95CC6-1A43-A707-E4BC-238F3C93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6D951A6-472C-65FD-9123-5167F26E9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4DD84B7-6985-B96D-9AE2-0BC9874B0474}"/>
              </a:ext>
            </a:extLst>
          </p:cNvPr>
          <p:cNvSpPr txBox="1"/>
          <p:nvPr/>
        </p:nvSpPr>
        <p:spPr>
          <a:xfrm>
            <a:off x="664369" y="71400"/>
            <a:ext cx="62650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4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Desarrollo, revisión de ideas y producto final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852FFD-2093-5A1B-E5A7-FF2319028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273" y="-189447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61F17F-D5AB-30C7-97DE-99273CA5F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11" y="1509517"/>
            <a:ext cx="2588303" cy="5347587"/>
          </a:xfrm>
          <a:prstGeom prst="rect">
            <a:avLst/>
          </a:prstGeom>
        </p:spPr>
      </p:pic>
      <p:sp>
        <p:nvSpPr>
          <p:cNvPr id="12" name="AutoShape 12" descr="Javascript Logo 10 PNG Images - CleanPNG">
            <a:extLst>
              <a:ext uri="{FF2B5EF4-FFF2-40B4-BE49-F238E27FC236}">
                <a16:creationId xmlns:a16="http://schemas.microsoft.com/office/drawing/2014/main" id="{D2073DA4-F7E5-79DB-F257-10343D1C1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FD98C1-3186-4468-ED2D-252CC5DB1DD1}"/>
              </a:ext>
            </a:extLst>
          </p:cNvPr>
          <p:cNvSpPr txBox="1"/>
          <p:nvPr/>
        </p:nvSpPr>
        <p:spPr>
          <a:xfrm>
            <a:off x="3045620" y="1997967"/>
            <a:ext cx="4319587" cy="4862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s-CL" sz="2400" b="1" noProof="0" dirty="0">
                <a:solidFill>
                  <a:schemeClr val="bg1"/>
                </a:solidFill>
              </a:rPr>
              <a:t>Producto final: </a:t>
            </a:r>
            <a:r>
              <a:rPr lang="es-CL" sz="2400" noProof="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s-CL" sz="2000" noProof="0" dirty="0">
                <a:solidFill>
                  <a:schemeClr val="bg1"/>
                </a:solidFill>
              </a:rPr>
              <a:t>Aplicación web interactiva ​</a:t>
            </a:r>
          </a:p>
          <a:p>
            <a:endParaRPr lang="es-CL" sz="2000" dirty="0">
              <a:solidFill>
                <a:schemeClr val="bg1"/>
              </a:solidFill>
            </a:endParaRPr>
          </a:p>
          <a:p>
            <a:pPr fontAlgn="base"/>
            <a:r>
              <a:rPr lang="es-CL" sz="2000" noProof="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s-CL" sz="2400" b="1" noProof="0" dirty="0">
                <a:solidFill>
                  <a:schemeClr val="bg1"/>
                </a:solidFill>
              </a:rPr>
              <a:t>Componentes: </a:t>
            </a:r>
            <a:r>
              <a:rPr lang="es-CL" sz="2400" noProof="0" dirty="0">
                <a:solidFill>
                  <a:schemeClr val="bg1"/>
                </a:solidFill>
              </a:rPr>
              <a:t>​</a:t>
            </a:r>
          </a:p>
          <a:p>
            <a:pPr fontAlgn="base"/>
            <a:r>
              <a:rPr lang="es-CL" sz="2000" noProof="0" dirty="0">
                <a:solidFill>
                  <a:schemeClr val="bg1"/>
                </a:solidFill>
              </a:rPr>
              <a:t>Formulario → entrada de datos ​</a:t>
            </a:r>
          </a:p>
          <a:p>
            <a:pPr fontAlgn="base"/>
            <a:r>
              <a:rPr lang="es-CL" sz="2000" noProof="0" dirty="0">
                <a:solidFill>
                  <a:schemeClr val="bg1"/>
                </a:solidFill>
              </a:rPr>
              <a:t>Modelo → cálculo de probabilidad ​</a:t>
            </a:r>
          </a:p>
          <a:p>
            <a:endParaRPr lang="es-CL" sz="2000" dirty="0">
              <a:solidFill>
                <a:schemeClr val="bg1"/>
              </a:solidFill>
            </a:endParaRPr>
          </a:p>
          <a:p>
            <a:endParaRPr lang="es-CL" sz="2000" dirty="0">
              <a:solidFill>
                <a:schemeClr val="bg1"/>
              </a:solidFill>
            </a:endParaRPr>
          </a:p>
          <a:p>
            <a:r>
              <a:rPr lang="es-CL" sz="2400" b="1">
                <a:solidFill>
                  <a:schemeClr val="bg1"/>
                </a:solidFill>
              </a:rPr>
              <a:t>Visualización: </a:t>
            </a:r>
            <a:r>
              <a:rPr lang="es-CL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Porcentaje  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Barra de progreso  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Explicación textual  </a:t>
            </a:r>
            <a:endParaRPr lang="es-CL">
              <a:solidFill>
                <a:schemeClr val="bg1"/>
              </a:solidFill>
            </a:endParaRPr>
          </a:p>
          <a:p>
            <a:pPr fontAlgn="base"/>
            <a:r>
              <a:rPr lang="es-CL" sz="2000" noProof="0" dirty="0">
                <a:solidFill>
                  <a:schemeClr val="bg1"/>
                </a:solidFill>
              </a:rPr>
              <a:t>​</a:t>
            </a:r>
          </a:p>
          <a:p>
            <a:pPr fontAlgn="base"/>
            <a:endParaRPr lang="es-CL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12325E-2B6A-02B1-CD6E-E84B9B3FE4AB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7F287-E3D4-3542-7358-B8E06960B09A}"/>
              </a:ext>
            </a:extLst>
          </p:cNvPr>
          <p:cNvSpPr txBox="1"/>
          <p:nvPr/>
        </p:nvSpPr>
        <p:spPr>
          <a:xfrm>
            <a:off x="7369119" y="2918641"/>
            <a:ext cx="4581054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CL" dirty="0">
              <a:solidFill>
                <a:schemeClr val="bg1"/>
              </a:solidFill>
            </a:endParaRPr>
          </a:p>
          <a:p>
            <a:endParaRPr lang="en-US" dirty="0"/>
          </a:p>
          <a:p>
            <a:r>
              <a:rPr lang="es-CL" sz="2400" b="1">
                <a:solidFill>
                  <a:schemeClr val="bg1"/>
                </a:solidFill>
              </a:rPr>
              <a:t>Revisión de ideas: </a:t>
            </a:r>
            <a:r>
              <a:rPr lang="es-CL" dirty="0">
                <a:solidFill>
                  <a:schemeClr val="bg1"/>
                </a:solidFill>
              </a:rPr>
              <a:t> 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Se ajustaron reglas de negocio 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(precio, usuario, rating)  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Se equilibraron variables para simular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s-CL" sz="2000">
                <a:solidFill>
                  <a:schemeClr val="bg1"/>
                </a:solidFill>
              </a:rPr>
              <a:t> realismo 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08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9" descr="A black surface with white marks&#10;&#10;AI-generated content may be incorrect.">
            <a:extLst>
              <a:ext uri="{FF2B5EF4-FFF2-40B4-BE49-F238E27FC236}">
                <a16:creationId xmlns:a16="http://schemas.microsoft.com/office/drawing/2014/main" id="{24966924-C74E-5A7E-217B-A548AFAE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CuadroTexto 3">
            <a:extLst>
              <a:ext uri="{FF2B5EF4-FFF2-40B4-BE49-F238E27FC236}">
                <a16:creationId xmlns:a16="http://schemas.microsoft.com/office/drawing/2014/main" id="{E0888F34-0F0B-CC71-1FB5-8E0F1BD484E1}"/>
              </a:ext>
            </a:extLst>
          </p:cNvPr>
          <p:cNvSpPr txBox="1"/>
          <p:nvPr/>
        </p:nvSpPr>
        <p:spPr>
          <a:xfrm>
            <a:off x="4068581" y="2028123"/>
            <a:ext cx="4046407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endParaRPr lang="es-CL" sz="4400" dirty="0">
              <a:solidFill>
                <a:schemeClr val="bg1"/>
              </a:solidFill>
              <a:latin typeface="Aptos Black"/>
            </a:endParaRPr>
          </a:p>
          <a:p>
            <a:pPr algn="ctr"/>
            <a:r>
              <a:rPr lang="es-CL" sz="4400">
                <a:solidFill>
                  <a:schemeClr val="bg1"/>
                </a:solidFill>
                <a:latin typeface="Aptos Black"/>
              </a:rPr>
              <a:t>Demostración del proyecto </a:t>
            </a:r>
            <a:endParaRPr lang="es-CL" sz="440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pPr algn="just"/>
            <a:endParaRPr lang="es-CL" sz="4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2445D-FC71-EA3D-6F1E-B43E3DC806DE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8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0713-9328-EFEC-042D-749F6E18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5278666-1296-55D4-E24D-C34382DE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F013CDB-C95D-BB22-EA59-50583CC11F53}"/>
              </a:ext>
            </a:extLst>
          </p:cNvPr>
          <p:cNvSpPr txBox="1"/>
          <p:nvPr/>
        </p:nvSpPr>
        <p:spPr>
          <a:xfrm>
            <a:off x="604838" y="714337"/>
            <a:ext cx="7943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4400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Conclusiones</a:t>
            </a:r>
            <a:endParaRPr lang="es-CL" sz="4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F0BFBB-0954-4936-917F-47F2BC864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513" y="-192474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12" descr="Javascript Logo 10 PNG Images - CleanPNG">
            <a:extLst>
              <a:ext uri="{FF2B5EF4-FFF2-40B4-BE49-F238E27FC236}">
                <a16:creationId xmlns:a16="http://schemas.microsoft.com/office/drawing/2014/main" id="{E5F5FEA1-6763-C2FB-4172-23A9272E89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64DFA-05AC-E29F-95A6-A69047C9537D}"/>
              </a:ext>
            </a:extLst>
          </p:cNvPr>
          <p:cNvSpPr txBox="1"/>
          <p:nvPr/>
        </p:nvSpPr>
        <p:spPr>
          <a:xfrm>
            <a:off x="533401" y="2236092"/>
            <a:ext cx="681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sz="2400" dirty="0">
                <a:solidFill>
                  <a:schemeClr val="bg1"/>
                </a:solidFill>
                <a:latin typeface="Aptos Black" panose="020B0004020202020204" pitchFamily="34" charset="0"/>
              </a:rPr>
              <a:t>Integración exitosa de Cálculo (Sigmoide) y Programación (JS).</a:t>
            </a:r>
            <a:endParaRPr lang="es-CL" sz="2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AFAF9F-FC95-2E04-7E53-FAF996CCE26A}"/>
              </a:ext>
            </a:extLst>
          </p:cNvPr>
          <p:cNvSpPr txBox="1"/>
          <p:nvPr/>
        </p:nvSpPr>
        <p:spPr>
          <a:xfrm>
            <a:off x="601980" y="3356401"/>
            <a:ext cx="68199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>
                <a:solidFill>
                  <a:schemeClr val="bg1"/>
                </a:solidFill>
                <a:latin typeface="Aptos Black"/>
              </a:rPr>
              <a:t>Integración exitosa de Cálculo (Sigmoide) y Programación (JS).</a:t>
            </a:r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37B446-0FAD-49A3-6A84-1B721F16853B}"/>
              </a:ext>
            </a:extLst>
          </p:cNvPr>
          <p:cNvSpPr txBox="1"/>
          <p:nvPr/>
        </p:nvSpPr>
        <p:spPr>
          <a:xfrm>
            <a:off x="515600" y="4535139"/>
            <a:ext cx="681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sz="2400" dirty="0">
                <a:solidFill>
                  <a:schemeClr val="bg1"/>
                </a:solidFill>
                <a:latin typeface="Aptos Black" panose="020B0004020202020204" pitchFamily="34" charset="0"/>
              </a:rPr>
              <a:t>Transformación de variables abstractas en decisiones de negocio reales.</a:t>
            </a:r>
            <a:endParaRPr lang="es-CL" sz="2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5025F7-FA82-8F21-DBF2-F1EEF1BB37FB}"/>
              </a:ext>
            </a:extLst>
          </p:cNvPr>
          <p:cNvSpPr txBox="1"/>
          <p:nvPr/>
        </p:nvSpPr>
        <p:spPr>
          <a:xfrm>
            <a:off x="601980" y="5667232"/>
            <a:ext cx="681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sz="2400" dirty="0">
                <a:solidFill>
                  <a:schemeClr val="bg1"/>
                </a:solidFill>
                <a:latin typeface="Aptos Black" panose="020B0004020202020204" pitchFamily="34" charset="0"/>
              </a:rPr>
              <a:t>Escalabilidad del proyecto hacia sistemas de negocios complejos</a:t>
            </a:r>
            <a:endParaRPr lang="es-CL" sz="2400" noProof="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2024CAD-7A9A-F9FB-D392-C5E48418B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0" y="2011292"/>
            <a:ext cx="3679211" cy="44393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2ADF0B-AE82-5770-308E-81B6D03CE102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7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9" descr="A black surface with white spots&#10;&#10;AI-generated content may be incorrect.">
            <a:extLst>
              <a:ext uri="{FF2B5EF4-FFF2-40B4-BE49-F238E27FC236}">
                <a16:creationId xmlns:a16="http://schemas.microsoft.com/office/drawing/2014/main" id="{85E1D6C3-E32F-55F9-49FA-9F0B40E0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6317E4-3392-8877-5147-B0A47D7B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chemeClr val="bg1"/>
                </a:solidFill>
                <a:latin typeface="Aptos Black"/>
              </a:rPr>
              <a:t>Bibliografía</a:t>
            </a:r>
            <a:endParaRPr lang="es-ES" dirty="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3E6B2-F100-62B2-E064-7208B9E8F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2790031"/>
            <a:ext cx="10515600" cy="391080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dirty="0" err="1">
                <a:solidFill>
                  <a:schemeClr val="bg1"/>
                </a:solidFill>
                <a:latin typeface="Aptos"/>
                <a:cs typeface="Times New Roman"/>
              </a:rPr>
              <a:t>Hollebeek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, L. D., </a:t>
            </a:r>
            <a:r>
              <a:rPr lang="en-US" sz="2000" dirty="0" err="1">
                <a:solidFill>
                  <a:schemeClr val="bg1"/>
                </a:solidFill>
                <a:latin typeface="Aptos"/>
                <a:cs typeface="Times New Roman"/>
              </a:rPr>
              <a:t>Urbonavicius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, S., Sigurdsson, V., Arvola, R., &amp; Clark, M. K. (2023). Customer Journey Value: a Conceptual framework. </a:t>
            </a:r>
            <a:r>
              <a:rPr lang="en-US" sz="2000" i="1" dirty="0">
                <a:solidFill>
                  <a:schemeClr val="bg1"/>
                </a:solidFill>
                <a:latin typeface="Aptos"/>
                <a:cs typeface="Times New Roman"/>
              </a:rPr>
              <a:t>Journal Of Creating Value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, </a:t>
            </a:r>
            <a:r>
              <a:rPr lang="en-US" sz="2000" i="1" dirty="0">
                <a:solidFill>
                  <a:schemeClr val="bg1"/>
                </a:solidFill>
                <a:latin typeface="Aptos"/>
                <a:cs typeface="Times New Roman"/>
              </a:rPr>
              <a:t>9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(1), 8-26. 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https://doi.org/10.1177/23949643231157155</a:t>
            </a:r>
            <a:endParaRPr lang="en-US" sz="2000">
              <a:solidFill>
                <a:schemeClr val="bg1"/>
              </a:solidFill>
              <a:latin typeface="Aptos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Larson, R., &amp; Edwards, B. (2010). </a:t>
            </a:r>
            <a:r>
              <a:rPr lang="en-US" sz="2000" err="1">
                <a:solidFill>
                  <a:schemeClr val="bg1"/>
                </a:solidFill>
                <a:latin typeface="Aptos"/>
                <a:cs typeface="Times New Roman"/>
              </a:rPr>
              <a:t>Capítulo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 13: </a:t>
            </a:r>
            <a:r>
              <a:rPr lang="en-US" sz="2000" err="1">
                <a:solidFill>
                  <a:schemeClr val="bg1"/>
                </a:solidFill>
                <a:latin typeface="Aptos"/>
                <a:cs typeface="Times New Roman"/>
              </a:rPr>
              <a:t>Funciones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 de </a:t>
            </a:r>
            <a:r>
              <a:rPr lang="en-US" sz="2000" err="1">
                <a:solidFill>
                  <a:schemeClr val="bg1"/>
                </a:solidFill>
                <a:latin typeface="Aptos"/>
                <a:cs typeface="Times New Roman"/>
              </a:rPr>
              <a:t>varias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 variables [Libro </a:t>
            </a:r>
            <a:r>
              <a:rPr lang="en-US" sz="2000" err="1">
                <a:solidFill>
                  <a:schemeClr val="bg1"/>
                </a:solidFill>
                <a:latin typeface="Aptos"/>
                <a:cs typeface="Times New Roman"/>
              </a:rPr>
              <a:t>electrónico</a:t>
            </a:r>
            <a:r>
              <a:rPr lang="en-US" sz="2000">
                <a:solidFill>
                  <a:schemeClr val="bg1"/>
                </a:solidFill>
                <a:latin typeface="Aptos"/>
                <a:cs typeface="Times New Roman"/>
              </a:rPr>
              <a:t>]. En J. Ibarra Escutia, </a:t>
            </a:r>
            <a:r>
              <a:rPr lang="en-US" sz="2000" i="1">
                <a:solidFill>
                  <a:schemeClr val="bg1"/>
                </a:solidFill>
                <a:latin typeface="Aptos"/>
                <a:cs typeface="Times New Roman"/>
              </a:rPr>
              <a:t>et al.</a:t>
            </a:r>
            <a:r>
              <a:rPr lang="en-US" sz="2000">
                <a:solidFill>
                  <a:schemeClr val="bg1"/>
                </a:solidFill>
                <a:latin typeface="Aptos"/>
                <a:cs typeface="Times New Roman"/>
              </a:rPr>
              <a:t> (Trads.), </a:t>
            </a:r>
            <a:r>
              <a:rPr lang="en-US" sz="2000" i="1" err="1">
                <a:solidFill>
                  <a:schemeClr val="bg1"/>
                </a:solidFill>
                <a:latin typeface="Aptos"/>
                <a:cs typeface="Times New Roman"/>
              </a:rPr>
              <a:t>Cálculo</a:t>
            </a:r>
            <a:r>
              <a:rPr lang="en-US" sz="2000" i="1">
                <a:solidFill>
                  <a:schemeClr val="bg1"/>
                </a:solidFill>
                <a:latin typeface="Aptos"/>
                <a:cs typeface="Times New Roman"/>
              </a:rPr>
              <a:t> 2 de </a:t>
            </a:r>
            <a:r>
              <a:rPr lang="en-US" sz="2000" i="1" err="1">
                <a:solidFill>
                  <a:schemeClr val="bg1"/>
                </a:solidFill>
                <a:latin typeface="Aptos"/>
                <a:cs typeface="Times New Roman"/>
              </a:rPr>
              <a:t>varias</a:t>
            </a:r>
            <a:r>
              <a:rPr lang="en-US" sz="2000" i="1" dirty="0">
                <a:solidFill>
                  <a:schemeClr val="bg1"/>
                </a:solidFill>
                <a:latin typeface="Aptos"/>
                <a:cs typeface="Times New Roman"/>
              </a:rPr>
              <a:t> variables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 (9.</a:t>
            </a:r>
            <a:r>
              <a:rPr lang="en-US" sz="2000" baseline="30000" dirty="0">
                <a:solidFill>
                  <a:schemeClr val="bg1"/>
                </a:solidFill>
                <a:latin typeface="Aptos"/>
                <a:cs typeface="Times New Roman"/>
              </a:rPr>
              <a:t>a</a:t>
            </a:r>
            <a:r>
              <a:rPr lang="en-US" sz="2000">
                <a:solidFill>
                  <a:schemeClr val="bg1"/>
                </a:solidFill>
                <a:latin typeface="Aptos"/>
                <a:cs typeface="Times New Roman"/>
              </a:rPr>
              <a:t> ed., Vol. 2, pp. 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885-982). McGraw Hill Interamericana.</a:t>
            </a:r>
            <a:endParaRPr lang="en-US" sz="2000">
              <a:solidFill>
                <a:schemeClr val="bg1"/>
              </a:solidFill>
              <a:latin typeface="Aptos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dirty="0" err="1">
                <a:solidFill>
                  <a:schemeClr val="bg1"/>
                </a:solidFill>
                <a:latin typeface="Aptos"/>
                <a:cs typeface="Times New Roman"/>
              </a:rPr>
              <a:t>Oecd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. (2019). OECD </a:t>
            </a:r>
            <a:r>
              <a:rPr lang="en-US" sz="2000" dirty="0" err="1">
                <a:solidFill>
                  <a:schemeClr val="bg1"/>
                </a:solidFill>
                <a:latin typeface="Aptos"/>
                <a:cs typeface="Times New Roman"/>
              </a:rPr>
              <a:t>Behavioural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 Insights Toolkit and Ethical Framework. En </a:t>
            </a:r>
            <a:r>
              <a:rPr lang="en-US" sz="2000" i="1" dirty="0">
                <a:solidFill>
                  <a:schemeClr val="bg1"/>
                </a:solidFill>
                <a:latin typeface="Aptos"/>
                <a:cs typeface="Times New Roman"/>
              </a:rPr>
              <a:t>OECD Publishing eBooks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</a:rPr>
              <a:t>. </a:t>
            </a:r>
            <a:r>
              <a:rPr lang="en-US" sz="2000" dirty="0">
                <a:solidFill>
                  <a:schemeClr val="bg1"/>
                </a:solidFill>
                <a:latin typeface="Aptos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https://doi.org/10.1787/9ea76a8f-en</a:t>
            </a:r>
            <a:endParaRPr lang="en-US" sz="2000">
              <a:solidFill>
                <a:schemeClr val="bg1"/>
              </a:solidFill>
              <a:latin typeface="Aptos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2" descr="A orange arrow on a black background&#10;&#10;AI-generated content may be incorrect.">
            <a:extLst>
              <a:ext uri="{FF2B5EF4-FFF2-40B4-BE49-F238E27FC236}">
                <a16:creationId xmlns:a16="http://schemas.microsoft.com/office/drawing/2014/main" id="{648897E6-1AD7-7B3A-125B-DE4D1FDC0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517" y="-266449"/>
            <a:ext cx="2588302" cy="25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8C2CDA-167B-A21E-9E68-84D45A0C47B3}"/>
              </a:ext>
            </a:extLst>
          </p:cNvPr>
          <p:cNvSpPr/>
          <p:nvPr/>
        </p:nvSpPr>
        <p:spPr>
          <a:xfrm>
            <a:off x="9535287" y="56"/>
            <a:ext cx="2662326" cy="2571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182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06c916-534e-4935-a89f-9e26b957978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C3EE0D4BF78B4680C5E1C1D92E32E9" ma:contentTypeVersion="13" ma:contentTypeDescription="Create a new document." ma:contentTypeScope="" ma:versionID="eb8f96309152ee459c4268b77744c777">
  <xsd:schema xmlns:xsd="http://www.w3.org/2001/XMLSchema" xmlns:xs="http://www.w3.org/2001/XMLSchema" xmlns:p="http://schemas.microsoft.com/office/2006/metadata/properties" xmlns:ns3="cd06c916-534e-4935-a89f-9e26b957978b" xmlns:ns4="fada7039-b58e-4b23-9b56-7924737f99a6" targetNamespace="http://schemas.microsoft.com/office/2006/metadata/properties" ma:root="true" ma:fieldsID="76affeeafb4f259d82eee87a8148673e" ns3:_="" ns4:_="">
    <xsd:import namespace="cd06c916-534e-4935-a89f-9e26b957978b"/>
    <xsd:import namespace="fada7039-b58e-4b23-9b56-7924737f99a6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6c916-534e-4935-a89f-9e26b957978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a7039-b58e-4b23-9b56-7924737f99a6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CC66B5-EBF9-4A6F-A7EE-6A6C20A56608}">
  <ds:schemaRefs>
    <ds:schemaRef ds:uri="cd06c916-534e-4935-a89f-9e26b957978b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fada7039-b58e-4b23-9b56-7924737f99a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89D3DE3-8DBA-48BF-B105-41E4C99922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264A57-DFF5-43EB-9F25-8FBDCBAF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06c916-534e-4935-a89f-9e26b957978b"/>
    <ds:schemaRef ds:uri="fada7039-b58e-4b23-9b56-7924737f99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892</Words>
  <Application>Microsoft Office PowerPoint</Application>
  <PresentationFormat>Widescreen</PresentationFormat>
  <Paragraphs>129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Tema de Office</vt:lpstr>
      <vt:lpstr>OnClick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ANTONIO ARAUJO APONTE</dc:creator>
  <cp:lastModifiedBy>SEBASTIAN ANTONIO ARAUJO APONTE</cp:lastModifiedBy>
  <cp:revision>521</cp:revision>
  <dcterms:created xsi:type="dcterms:W3CDTF">2026-05-02T23:11:41Z</dcterms:created>
  <dcterms:modified xsi:type="dcterms:W3CDTF">2026-05-09T02:38:38Z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0x01010009C3EE0D4BF78B4680C5E1C1D92E32E9</vt:lpwstr>
  </property>
</Properties>
</file>